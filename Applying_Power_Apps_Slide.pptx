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6890" y="131184"/>
            <a:ext cx="5541818" cy="378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APPLYING POWER APPS</a:t>
            </a:r>
          </a:p>
        </p:txBody>
      </p:sp>
      <p:pic>
        <p:nvPicPr>
          <p:cNvPr id="4" name="Logo Duy Tan" descr="logo_duyt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172" y="102032"/>
            <a:ext cx="1122947" cy="481007"/>
          </a:xfrm>
          <a:prstGeom prst="rect">
            <a:avLst/>
          </a:prstGeom>
        </p:spPr>
      </p:pic>
      <p:pic>
        <p:nvPicPr>
          <p:cNvPr id="5" name="Logo ESG Innovation Sprint" descr="logo_e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9665" y="72880"/>
            <a:ext cx="1421914" cy="539311"/>
          </a:xfrm>
          <a:prstGeom prst="rect">
            <a:avLst/>
          </a:prstGeom>
        </p:spPr>
      </p:pic>
      <p:sp>
        <p:nvSpPr>
          <p:cNvPr id="6" name="Card Power Apps"/>
          <p:cNvSpPr/>
          <p:nvPr/>
        </p:nvSpPr>
        <p:spPr>
          <a:xfrm>
            <a:off x="576057" y="3767892"/>
            <a:ext cx="4360536" cy="1260823"/>
          </a:xfrm>
          <a:prstGeom prst="roundRect">
            <a:avLst>
              <a:gd name="adj" fmla="val 9248"/>
            </a:avLst>
          </a:prstGeom>
          <a:gradFill rotWithShape="1">
            <a:gsLst>
              <a:gs pos="0">
                <a:srgbClr val="FCF0FC"/>
              </a:gs>
              <a:gs pos="100000">
                <a:srgbClr val="F3E6FB"/>
              </a:gs>
            </a:gsLst>
            <a:lin scaled="0" ang="0"/>
          </a:gradFill>
          <a:ln w="12700">
            <a:solidFill>
              <a:srgbClr val="EDC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hone Power Apps screen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85" y="801679"/>
            <a:ext cx="1925053" cy="3279596"/>
          </a:xfrm>
          <a:prstGeom prst="rect">
            <a:avLst/>
          </a:prstGeom>
        </p:spPr>
      </p:pic>
      <p:pic>
        <p:nvPicPr>
          <p:cNvPr id="8" name="Icon Power Apps" descr="icon_powerap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40" y="3950091"/>
            <a:ext cx="772938" cy="714223"/>
          </a:xfrm>
          <a:prstGeom prst="rect">
            <a:avLst/>
          </a:prstGeom>
        </p:spPr>
      </p:pic>
      <p:sp>
        <p:nvSpPr>
          <p:cNvPr id="9" name="Text Power Apps"/>
          <p:cNvSpPr txBox="1"/>
          <p:nvPr/>
        </p:nvSpPr>
        <p:spPr>
          <a:xfrm>
            <a:off x="1720880" y="4125003"/>
            <a:ext cx="3135502" cy="29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8B1E85"/>
                </a:solidFill>
                <a:latin typeface="Arial"/>
              </a:rPr>
              <a:t>Power Apps</a:t>
            </a:r>
          </a:p>
        </p:txBody>
      </p:sp>
      <p:sp>
        <p:nvSpPr>
          <p:cNvPr id="10" name="Text On-site Recording"/>
          <p:cNvSpPr txBox="1"/>
          <p:nvPr/>
        </p:nvSpPr>
        <p:spPr>
          <a:xfrm>
            <a:off x="1720880" y="4460251"/>
            <a:ext cx="3135502" cy="247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F2A5F"/>
                </a:solidFill>
                <a:latin typeface="Arial"/>
              </a:rPr>
              <a:t>On-site Recording</a:t>
            </a:r>
          </a:p>
        </p:txBody>
      </p:sp>
      <p:sp>
        <p:nvSpPr>
          <p:cNvPr id="11" name="Text On-site Description"/>
          <p:cNvSpPr txBox="1"/>
          <p:nvPr/>
        </p:nvSpPr>
        <p:spPr>
          <a:xfrm>
            <a:off x="1720880" y="4715330"/>
            <a:ext cx="3208421" cy="23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D5C"/>
                </a:solidFill>
                <a:latin typeface="Arial"/>
              </a:rPr>
              <a:t>Staff scan QR codes via Power Apps</a:t>
            </a:r>
          </a:p>
        </p:txBody>
      </p:sp>
      <p:pic>
        <p:nvPicPr>
          <p:cNvPr id="12" name="Arrow" descr="ar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1388" y="1661662"/>
            <a:ext cx="2114641" cy="1166079"/>
          </a:xfrm>
          <a:prstGeom prst="rect">
            <a:avLst/>
          </a:prstGeom>
        </p:spPr>
      </p:pic>
      <p:pic>
        <p:nvPicPr>
          <p:cNvPr id="13" name="Wifi signal" descr="wif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1388" y="2827741"/>
            <a:ext cx="2114641" cy="539311"/>
          </a:xfrm>
          <a:prstGeom prst="rect">
            <a:avLst/>
          </a:prstGeom>
        </p:spPr>
      </p:pic>
      <p:sp>
        <p:nvSpPr>
          <p:cNvPr id="14" name="Text Send data"/>
          <p:cNvSpPr txBox="1"/>
          <p:nvPr/>
        </p:nvSpPr>
        <p:spPr>
          <a:xfrm>
            <a:off x="5104306" y="3410780"/>
            <a:ext cx="1997971" cy="408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F2A5F"/>
                </a:solidFill>
                <a:latin typeface="Arial"/>
              </a:rPr>
              <a:t>Send data via email</a:t>
            </a:r>
          </a:p>
          <a:p>
            <a:pPr algn="ctr"/>
            <a:r>
              <a:rPr sz="1400" b="0">
                <a:solidFill>
                  <a:srgbClr val="0F2A5F"/>
                </a:solidFill>
                <a:latin typeface="Arial"/>
              </a:rPr>
              <a:t>automatically</a:t>
            </a:r>
          </a:p>
        </p:txBody>
      </p:sp>
      <p:sp>
        <p:nvSpPr>
          <p:cNvPr id="15" name="Card Email preview"/>
          <p:cNvSpPr/>
          <p:nvPr/>
        </p:nvSpPr>
        <p:spPr>
          <a:xfrm>
            <a:off x="7466871" y="962015"/>
            <a:ext cx="3667809" cy="2645541"/>
          </a:xfrm>
          <a:prstGeom prst="roundRect">
            <a:avLst>
              <a:gd name="adj" fmla="val 3856"/>
            </a:avLst>
          </a:prstGeom>
          <a:solidFill>
            <a:srgbClr val="FCFCFD"/>
          </a:solidFill>
          <a:ln w="9525">
            <a:solidFill>
              <a:srgbClr val="E1E6EE"/>
            </a:solidFill>
          </a:ln>
          <a:effectLst/>
          <a:effectLst>
            <a:outerShdw blurRad="190500" dist="38100" dir="5400000" algn="t" rotWithShape="0">
              <a:srgbClr val="1F3A6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Email subject"/>
          <p:cNvSpPr txBox="1"/>
          <p:nvPr/>
        </p:nvSpPr>
        <p:spPr>
          <a:xfrm>
            <a:off x="7634584" y="1042183"/>
            <a:ext cx="3485512" cy="17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  <a:latin typeface="Arial"/>
              </a:rPr>
              <a:t>[HÀNG RỚT] 20260108-14032 - Đoàn Văn Danh - 0263529131</a:t>
            </a:r>
          </a:p>
        </p:txBody>
      </p:sp>
      <p:sp>
        <p:nvSpPr>
          <p:cNvPr id="17" name="Email header fields"/>
          <p:cNvSpPr txBox="1"/>
          <p:nvPr/>
        </p:nvSpPr>
        <p:spPr>
          <a:xfrm>
            <a:off x="7649167" y="1246247"/>
            <a:ext cx="3062584" cy="80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0"/>
              </a:lnSpc>
            </a:pPr>
            <a:r>
              <a:rPr sz="750" b="1">
                <a:solidFill>
                  <a:srgbClr val="1F2937"/>
                </a:solidFill>
                <a:latin typeface="Arial"/>
              </a:rPr>
              <a:t>Từ: </a:t>
            </a:r>
            <a:r>
              <a:rPr sz="750" b="0">
                <a:solidFill>
                  <a:srgbClr val="6B7280"/>
                </a:solidFill>
                <a:latin typeface="Arial"/>
              </a:rPr>
              <a:t>Power Apps &lt;noreply@duytan.com&gt;</a:t>
            </a:r>
          </a:p>
          <a:p>
            <a:pPr algn="l">
              <a:lnSpc>
                <a:spcPts val="840"/>
              </a:lnSpc>
            </a:pPr>
            <a:r>
              <a:rPr sz="750" b="1">
                <a:solidFill>
                  <a:srgbClr val="1F2937"/>
                </a:solidFill>
                <a:latin typeface="Arial"/>
              </a:rPr>
              <a:t>Đến: </a:t>
            </a:r>
            <a:r>
              <a:rPr sz="750" b="0">
                <a:solidFill>
                  <a:srgbClr val="6B7280"/>
                </a:solidFill>
                <a:latin typeface="Arial"/>
              </a:rPr>
              <a:t>kho@duytan.com</a:t>
            </a:r>
          </a:p>
          <a:p>
            <a:pPr algn="l">
              <a:lnSpc>
                <a:spcPts val="840"/>
              </a:lnSpc>
            </a:pPr>
            <a:r>
              <a:rPr sz="750" b="0">
                <a:solidFill>
                  <a:srgbClr val="1F2937"/>
                </a:solidFill>
                <a:latin typeface="Arial"/>
              </a:rPr>
              <a:t>Ngày: 08/10/2026 14:03</a:t>
            </a:r>
          </a:p>
          <a:p>
            <a:pPr algn="l">
              <a:lnSpc>
                <a:spcPts val="840"/>
              </a:lnSpc>
            </a:pPr>
            <a:r>
              <a:rPr sz="750" b="0">
                <a:solidFill>
                  <a:srgbClr val="1F2937"/>
                </a:solidFill>
                <a:latin typeface="Arial"/>
              </a:rPr>
              <a:t>Người gửi: ĐOÀN VĂN DANH</a:t>
            </a:r>
          </a:p>
          <a:p>
            <a:pPr algn="l">
              <a:lnSpc>
                <a:spcPts val="840"/>
              </a:lnSpc>
            </a:pPr>
            <a:r>
              <a:rPr sz="750" b="0">
                <a:solidFill>
                  <a:srgbClr val="1F2937"/>
                </a:solidFill>
                <a:latin typeface="Arial"/>
              </a:rPr>
              <a:t>SĐT: 0263529131</a:t>
            </a:r>
          </a:p>
          <a:p>
            <a:pPr algn="l">
              <a:lnSpc>
                <a:spcPts val="840"/>
              </a:lnSpc>
            </a:pPr>
            <a:r>
              <a:rPr sz="750" b="0">
                <a:solidFill>
                  <a:srgbClr val="1F2937"/>
                </a:solidFill>
                <a:latin typeface="Arial"/>
              </a:rPr>
              <a:t>Phiên: 20260108-14032</a:t>
            </a:r>
          </a:p>
          <a:p>
            <a:pPr algn="l">
              <a:lnSpc>
                <a:spcPts val="840"/>
              </a:lnSpc>
            </a:pPr>
            <a:r>
              <a:rPr sz="750" b="0">
                <a:solidFill>
                  <a:srgbClr val="1F2937"/>
                </a:solidFill>
                <a:latin typeface="Arial"/>
              </a:rPr>
              <a:t>Tổng dòng: 12</a:t>
            </a:r>
          </a:p>
        </p:txBody>
      </p:sp>
      <p:graphicFrame>
        <p:nvGraphicFramePr>
          <p:cNvPr id="18" name="Email data table"/>
          <p:cNvGraphicFramePr>
            <a:graphicFrameLocks noGrp="1"/>
          </p:cNvGraphicFramePr>
          <p:nvPr/>
        </p:nvGraphicFramePr>
        <p:xfrm>
          <a:off x="7656459" y="2077078"/>
          <a:ext cx="3223004" cy="1348277"/>
        </p:xfrm>
        <a:graphic>
          <a:graphicData uri="http://schemas.openxmlformats.org/drawingml/2006/table">
            <a:tbl>
              <a:tblPr/>
              <a:tblGrid>
                <a:gridCol w="335426"/>
                <a:gridCol w="576057"/>
                <a:gridCol w="1276077"/>
                <a:gridCol w="517722"/>
                <a:gridCol w="517722"/>
              </a:tblGrid>
              <a:tr h="192611"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1">
                          <a:solidFill>
                            <a:srgbClr val="1F2937"/>
                          </a:solidFill>
                          <a:latin typeface="Arial"/>
                        </a:rPr>
                        <a:t>STT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1">
                          <a:solidFill>
                            <a:srgbClr val="1F2937"/>
                          </a:solidFill>
                          <a:latin typeface="Arial"/>
                        </a:rPr>
                        <a:t>Mã SP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1">
                          <a:solidFill>
                            <a:srgbClr val="1F2937"/>
                          </a:solidFill>
                          <a:latin typeface="Arial"/>
                        </a:rPr>
                        <a:t>Tên SP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1">
                          <a:solidFill>
                            <a:srgbClr val="1F2937"/>
                          </a:solidFill>
                          <a:latin typeface="Arial"/>
                        </a:rPr>
                        <a:t>SL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1">
                          <a:solidFill>
                            <a:srgbClr val="1F2937"/>
                          </a:solidFill>
                          <a:latin typeface="Arial"/>
                        </a:rPr>
                        <a:t>ĐC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EEF0F3"/>
                    </a:solidFill>
                  </a:tcPr>
                </a:tc>
              </a:tr>
              <a:tr h="192611"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C001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Rổ nhựa 30L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L1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2611"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C002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Hũ nhựa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L2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2611"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C003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Tủ nhựa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L1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2611"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C004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Ca nhựa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L3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2611"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C005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Thùng nhựa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2611"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...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...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...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...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/>
                      </a:pPr>
                      <a:r>
                        <a:rPr sz="750" b="0">
                          <a:solidFill>
                            <a:srgbClr val="1F2937"/>
                          </a:solidFill>
                          <a:latin typeface="Arial"/>
                        </a:rPr>
                        <a:t>...</a:t>
                      </a:r>
                    </a:p>
                  </a:txBody>
                  <a:tcPr marL="36459" marR="36459" marT="0" marB="0" anchor="ctr">
                    <a:lnL w="9525">
                      <a:solidFill>
                        <a:srgbClr val="8A919C"/>
                      </a:solidFill>
                    </a:lnL>
                    <a:lnR w="9525">
                      <a:solidFill>
                        <a:srgbClr val="8A919C"/>
                      </a:solidFill>
                    </a:lnR>
                    <a:lnT w="9525">
                      <a:solidFill>
                        <a:srgbClr val="8A919C"/>
                      </a:solidFill>
                    </a:lnT>
                    <a:lnB w="9525">
                      <a:solidFill>
                        <a:srgbClr val="8A919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Card Email received"/>
          <p:cNvSpPr/>
          <p:nvPr/>
        </p:nvSpPr>
        <p:spPr>
          <a:xfrm>
            <a:off x="7269990" y="3767892"/>
            <a:ext cx="4353244" cy="1268111"/>
          </a:xfrm>
          <a:prstGeom prst="roundRect">
            <a:avLst>
              <a:gd name="adj" fmla="val 9195"/>
            </a:avLst>
          </a:prstGeom>
          <a:gradFill rotWithShape="1">
            <a:gsLst>
              <a:gs pos="0">
                <a:srgbClr val="EAF3FE"/>
              </a:gs>
              <a:gs pos="100000">
                <a:srgbClr val="E2EEFC"/>
              </a:gs>
            </a:gsLst>
            <a:lin scaled="0" ang="0"/>
          </a:gradFill>
          <a:ln w="12700">
            <a:solidFill>
              <a:srgbClr val="D2E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Icon Mail" descr="icon_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5416" y="3935515"/>
            <a:ext cx="809397" cy="677783"/>
          </a:xfrm>
          <a:prstGeom prst="rect">
            <a:avLst/>
          </a:prstGeom>
        </p:spPr>
      </p:pic>
      <p:sp>
        <p:nvSpPr>
          <p:cNvPr id="21" name="Text Email Received"/>
          <p:cNvSpPr txBox="1"/>
          <p:nvPr/>
        </p:nvSpPr>
        <p:spPr>
          <a:xfrm>
            <a:off x="8567943" y="4008395"/>
            <a:ext cx="2989665" cy="29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F2A5F"/>
                </a:solidFill>
                <a:latin typeface="Arial"/>
              </a:rPr>
              <a:t>Email Received</a:t>
            </a:r>
          </a:p>
        </p:txBody>
      </p:sp>
      <p:sp>
        <p:nvSpPr>
          <p:cNvPr id="22" name="Text Data Entry"/>
          <p:cNvSpPr txBox="1"/>
          <p:nvPr/>
        </p:nvSpPr>
        <p:spPr>
          <a:xfrm>
            <a:off x="8567943" y="4401947"/>
            <a:ext cx="2989665" cy="262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F2A5F"/>
                </a:solidFill>
                <a:latin typeface="Arial"/>
              </a:rPr>
              <a:t>Data Entry</a:t>
            </a:r>
          </a:p>
        </p:txBody>
      </p:sp>
      <p:sp>
        <p:nvSpPr>
          <p:cNvPr id="23" name="Text Data Entry Description"/>
          <p:cNvSpPr txBox="1"/>
          <p:nvPr/>
        </p:nvSpPr>
        <p:spPr>
          <a:xfrm>
            <a:off x="8567943" y="4678891"/>
            <a:ext cx="3026124" cy="23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D5C"/>
                </a:solidFill>
                <a:latin typeface="Arial"/>
              </a:rPr>
              <a:t>Staff receive on-site data via email</a:t>
            </a:r>
          </a:p>
        </p:txBody>
      </p:sp>
      <p:pic>
        <p:nvPicPr>
          <p:cNvPr id="24" name="Envelope notification" descr="envelop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7990" y="2317581"/>
            <a:ext cx="1582335" cy="1581494"/>
          </a:xfrm>
          <a:prstGeom prst="rect">
            <a:avLst/>
          </a:prstGeom>
        </p:spPr>
      </p:pic>
      <p:sp>
        <p:nvSpPr>
          <p:cNvPr id="25" name="KPI 1 card"/>
          <p:cNvSpPr/>
          <p:nvPr/>
        </p:nvSpPr>
        <p:spPr>
          <a:xfrm>
            <a:off x="452096" y="5334810"/>
            <a:ext cx="2399024" cy="1217095"/>
          </a:xfrm>
          <a:prstGeom prst="roundRect">
            <a:avLst>
              <a:gd name="adj" fmla="val 9580"/>
            </a:avLst>
          </a:prstGeom>
          <a:gradFill rotWithShape="1">
            <a:gsLst>
              <a:gs pos="0">
                <a:srgbClr val="FFF8F1"/>
              </a:gs>
              <a:gs pos="100000">
                <a:srgbClr val="FDEAD6"/>
              </a:gs>
            </a:gsLst>
            <a:lin scaled="0" ang="16200000"/>
          </a:gradFill>
          <a:ln w="25400">
            <a:solidFill>
              <a:srgbClr val="F08A2C"/>
            </a:solidFill>
          </a:ln>
          <a:effectLst/>
          <a:effectLst>
            <a:glow rad="76200">
              <a:srgbClr val="F08A2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KPI 1 icon" descr="icon_clock_oran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105" y="5407690"/>
            <a:ext cx="379177" cy="400840"/>
          </a:xfrm>
          <a:prstGeom prst="rect">
            <a:avLst/>
          </a:prstGeom>
        </p:spPr>
      </p:pic>
      <p:sp>
        <p:nvSpPr>
          <p:cNvPr id="27" name="KPI 1 label"/>
          <p:cNvSpPr txBox="1"/>
          <p:nvPr/>
        </p:nvSpPr>
        <p:spPr>
          <a:xfrm>
            <a:off x="1254201" y="5495146"/>
            <a:ext cx="1567751" cy="23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D9601A"/>
                </a:solidFill>
                <a:latin typeface="Arial"/>
              </a:rPr>
              <a:t>CURRENT STATE</a:t>
            </a:r>
          </a:p>
        </p:txBody>
      </p:sp>
      <p:sp>
        <p:nvSpPr>
          <p:cNvPr id="28" name="KPI 1 value"/>
          <p:cNvSpPr txBox="1"/>
          <p:nvPr/>
        </p:nvSpPr>
        <p:spPr>
          <a:xfrm>
            <a:off x="780230" y="5713785"/>
            <a:ext cx="2034431" cy="481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E0620F"/>
                </a:solidFill>
                <a:latin typeface="Arial"/>
              </a:rPr>
              <a:t>108</a:t>
            </a:r>
          </a:p>
        </p:txBody>
      </p:sp>
      <p:sp>
        <p:nvSpPr>
          <p:cNvPr id="29" name="KPI 1 unit"/>
          <p:cNvSpPr txBox="1"/>
          <p:nvPr/>
        </p:nvSpPr>
        <p:spPr>
          <a:xfrm>
            <a:off x="780230" y="6202081"/>
            <a:ext cx="2034431" cy="262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0F2A5F"/>
                </a:solidFill>
                <a:latin typeface="Arial"/>
              </a:rPr>
              <a:t>hrs / month</a:t>
            </a:r>
          </a:p>
        </p:txBody>
      </p:sp>
      <p:sp>
        <p:nvSpPr>
          <p:cNvPr id="30" name="KPI 2 card"/>
          <p:cNvSpPr/>
          <p:nvPr/>
        </p:nvSpPr>
        <p:spPr>
          <a:xfrm>
            <a:off x="3186545" y="5334810"/>
            <a:ext cx="2399024" cy="1217095"/>
          </a:xfrm>
          <a:prstGeom prst="roundRect">
            <a:avLst>
              <a:gd name="adj" fmla="val 9580"/>
            </a:avLst>
          </a:prstGeom>
          <a:gradFill rotWithShape="1">
            <a:gsLst>
              <a:gs pos="0">
                <a:srgbClr val="EFF7FE"/>
              </a:gs>
              <a:gs pos="100000">
                <a:srgbClr val="E0EEFF"/>
              </a:gs>
            </a:gsLst>
            <a:lin scaled="0" ang="16200000"/>
          </a:gradFill>
          <a:ln w="25400">
            <a:solidFill>
              <a:srgbClr val="3B8BEA"/>
            </a:solidFill>
          </a:ln>
          <a:effectLst/>
          <a:effectLst>
            <a:glow rad="76200">
              <a:srgbClr val="3B8BEA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KPI 2 icon" descr="icon_clock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7388" y="5407690"/>
            <a:ext cx="393761" cy="400840"/>
          </a:xfrm>
          <a:prstGeom prst="rect">
            <a:avLst/>
          </a:prstGeom>
        </p:spPr>
      </p:pic>
      <p:sp>
        <p:nvSpPr>
          <p:cNvPr id="32" name="KPI 2 label"/>
          <p:cNvSpPr txBox="1"/>
          <p:nvPr/>
        </p:nvSpPr>
        <p:spPr>
          <a:xfrm>
            <a:off x="3974067" y="5495146"/>
            <a:ext cx="1582335" cy="23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A4DC3"/>
                </a:solidFill>
                <a:latin typeface="Arial"/>
              </a:rPr>
              <a:t>NEW PROCESS</a:t>
            </a:r>
          </a:p>
        </p:txBody>
      </p:sp>
      <p:sp>
        <p:nvSpPr>
          <p:cNvPr id="33" name="KPI 2 value"/>
          <p:cNvSpPr txBox="1"/>
          <p:nvPr/>
        </p:nvSpPr>
        <p:spPr>
          <a:xfrm>
            <a:off x="3514679" y="5713785"/>
            <a:ext cx="2034431" cy="481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0D3C9A"/>
                </a:solidFill>
                <a:latin typeface="Arial"/>
              </a:rPr>
              <a:t>22</a:t>
            </a:r>
          </a:p>
        </p:txBody>
      </p:sp>
      <p:sp>
        <p:nvSpPr>
          <p:cNvPr id="34" name="KPI 2 unit"/>
          <p:cNvSpPr txBox="1"/>
          <p:nvPr/>
        </p:nvSpPr>
        <p:spPr>
          <a:xfrm>
            <a:off x="3514679" y="6202081"/>
            <a:ext cx="2034431" cy="262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0F2A5F"/>
                </a:solidFill>
                <a:latin typeface="Arial"/>
              </a:rPr>
              <a:t>hrs / month</a:t>
            </a:r>
          </a:p>
        </p:txBody>
      </p:sp>
      <p:sp>
        <p:nvSpPr>
          <p:cNvPr id="35" name="KPI 3 card"/>
          <p:cNvSpPr/>
          <p:nvPr/>
        </p:nvSpPr>
        <p:spPr>
          <a:xfrm>
            <a:off x="5884536" y="5334810"/>
            <a:ext cx="2362565" cy="1217095"/>
          </a:xfrm>
          <a:prstGeom prst="roundRect">
            <a:avLst>
              <a:gd name="adj" fmla="val 9580"/>
            </a:avLst>
          </a:prstGeom>
          <a:gradFill rotWithShape="1">
            <a:gsLst>
              <a:gs pos="0">
                <a:srgbClr val="F4FEFA"/>
              </a:gs>
              <a:gs pos="100000">
                <a:srgbClr val="E3F8EC"/>
              </a:gs>
            </a:gsLst>
            <a:lin scaled="0" ang="16200000"/>
          </a:gradFill>
          <a:ln w="25400">
            <a:solidFill>
              <a:srgbClr val="2DB45A"/>
            </a:solidFill>
          </a:ln>
          <a:effectLst/>
          <a:effectLst>
            <a:glow rad="76200">
              <a:srgbClr val="2DB45A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KPI 3 icon" descr="icon_char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9751" y="5429554"/>
            <a:ext cx="386469" cy="378976"/>
          </a:xfrm>
          <a:prstGeom prst="rect">
            <a:avLst/>
          </a:prstGeom>
        </p:spPr>
      </p:pic>
      <p:sp>
        <p:nvSpPr>
          <p:cNvPr id="37" name="KPI 3 label"/>
          <p:cNvSpPr txBox="1"/>
          <p:nvPr/>
        </p:nvSpPr>
        <p:spPr>
          <a:xfrm>
            <a:off x="6599139" y="5495146"/>
            <a:ext cx="1618794" cy="23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E7A3A"/>
                </a:solidFill>
                <a:latin typeface="Arial"/>
              </a:rPr>
              <a:t>TIME SAVED</a:t>
            </a:r>
          </a:p>
        </p:txBody>
      </p:sp>
      <p:sp>
        <p:nvSpPr>
          <p:cNvPr id="38" name="KPI 3 value"/>
          <p:cNvSpPr txBox="1"/>
          <p:nvPr/>
        </p:nvSpPr>
        <p:spPr>
          <a:xfrm>
            <a:off x="6212670" y="5713785"/>
            <a:ext cx="1997971" cy="481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0E6B36"/>
                </a:solidFill>
                <a:latin typeface="Arial"/>
              </a:rPr>
              <a:t>86</a:t>
            </a:r>
          </a:p>
        </p:txBody>
      </p:sp>
      <p:sp>
        <p:nvSpPr>
          <p:cNvPr id="39" name="KPI 3 unit"/>
          <p:cNvSpPr txBox="1"/>
          <p:nvPr/>
        </p:nvSpPr>
        <p:spPr>
          <a:xfrm>
            <a:off x="6212670" y="6202081"/>
            <a:ext cx="1997971" cy="262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0F2A5F"/>
                </a:solidFill>
                <a:latin typeface="Arial"/>
              </a:rPr>
              <a:t>hrs / month</a:t>
            </a:r>
          </a:p>
        </p:txBody>
      </p:sp>
      <p:sp>
        <p:nvSpPr>
          <p:cNvPr id="40" name="Chevron 1"/>
          <p:cNvSpPr/>
          <p:nvPr/>
        </p:nvSpPr>
        <p:spPr>
          <a:xfrm>
            <a:off x="2960498" y="5852257"/>
            <a:ext cx="123962" cy="233216"/>
          </a:xfrm>
          <a:prstGeom prst="chevron">
            <a:avLst/>
          </a:prstGeom>
          <a:solidFill>
            <a:srgbClr val="C5D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Chevron 2"/>
          <p:cNvSpPr/>
          <p:nvPr/>
        </p:nvSpPr>
        <p:spPr>
          <a:xfrm>
            <a:off x="5673072" y="5852257"/>
            <a:ext cx="123962" cy="233216"/>
          </a:xfrm>
          <a:prstGeom prst="chevron">
            <a:avLst/>
          </a:prstGeom>
          <a:solidFill>
            <a:srgbClr val="C5D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Divider"/>
          <p:cNvCxnSpPr/>
          <p:nvPr/>
        </p:nvCxnSpPr>
        <p:spPr>
          <a:xfrm>
            <a:off x="8546067" y="5451418"/>
            <a:ext cx="0" cy="1034894"/>
          </a:xfrm>
          <a:prstGeom prst="line">
            <a:avLst/>
          </a:prstGeom>
          <a:ln w="12700">
            <a:solidFill>
              <a:srgbClr val="8EA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KPI 4 card"/>
          <p:cNvSpPr/>
          <p:nvPr/>
        </p:nvSpPr>
        <p:spPr>
          <a:xfrm>
            <a:off x="8896077" y="5393114"/>
            <a:ext cx="2916746" cy="1180655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0F8A63"/>
              </a:gs>
              <a:gs pos="100000">
                <a:srgbClr val="05624A"/>
              </a:gs>
            </a:gsLst>
            <a:lin scaled="0" ang="0"/>
          </a:gradFill>
          <a:ln w="19050">
            <a:solidFill>
              <a:srgbClr val="3CC57E"/>
            </a:solidFill>
          </a:ln>
          <a:effectLst/>
          <a:effectLst>
            <a:glow rad="76200">
              <a:srgbClr val="2FBF71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Donut base"/>
          <p:cNvSpPr/>
          <p:nvPr/>
        </p:nvSpPr>
        <p:spPr>
          <a:xfrm>
            <a:off x="8910660" y="5444130"/>
            <a:ext cx="1079196" cy="1078623"/>
          </a:xfrm>
          <a:prstGeom prst="donut">
            <a:avLst>
              <a:gd name="adj" fmla="val 16891"/>
            </a:avLst>
          </a:prstGeom>
          <a:solidFill>
            <a:srgbClr val="BFE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Donut 80 percent"/>
          <p:cNvSpPr/>
          <p:nvPr/>
        </p:nvSpPr>
        <p:spPr>
          <a:xfrm>
            <a:off x="8910660" y="5444130"/>
            <a:ext cx="1079196" cy="1078623"/>
          </a:xfrm>
          <a:prstGeom prst="blockArc">
            <a:avLst>
              <a:gd name="adj1" fmla="val 16200000"/>
              <a:gd name="adj2" fmla="val 11880000"/>
              <a:gd name="adj3" fmla="val 16891"/>
            </a:avLst>
          </a:prstGeom>
          <a:solidFill>
            <a:srgbClr val="5CC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Donut centre"/>
          <p:cNvSpPr/>
          <p:nvPr/>
        </p:nvSpPr>
        <p:spPr>
          <a:xfrm>
            <a:off x="9092957" y="5626329"/>
            <a:ext cx="714603" cy="714223"/>
          </a:xfrm>
          <a:prstGeom prst="ellipse">
            <a:avLst/>
          </a:prstGeom>
          <a:solidFill>
            <a:srgbClr val="06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Donut label"/>
          <p:cNvSpPr txBox="1"/>
          <p:nvPr/>
        </p:nvSpPr>
        <p:spPr>
          <a:xfrm>
            <a:off x="9092957" y="5837681"/>
            <a:ext cx="714603" cy="29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80%</a:t>
            </a:r>
          </a:p>
        </p:txBody>
      </p:sp>
      <p:sp>
        <p:nvSpPr>
          <p:cNvPr id="48" name="KPI 4 label"/>
          <p:cNvSpPr txBox="1"/>
          <p:nvPr/>
        </p:nvSpPr>
        <p:spPr>
          <a:xfrm>
            <a:off x="10135694" y="5517010"/>
            <a:ext cx="1662545" cy="23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TOTAL TIME SAVING</a:t>
            </a:r>
          </a:p>
        </p:txBody>
      </p:sp>
      <p:sp>
        <p:nvSpPr>
          <p:cNvPr id="49" name="KPI 4 value"/>
          <p:cNvSpPr txBox="1"/>
          <p:nvPr/>
        </p:nvSpPr>
        <p:spPr>
          <a:xfrm>
            <a:off x="10157569" y="5750225"/>
            <a:ext cx="1618794" cy="4810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80%</a:t>
            </a:r>
          </a:p>
        </p:txBody>
      </p:sp>
      <p:sp>
        <p:nvSpPr>
          <p:cNvPr id="50" name="KPI 4 unit"/>
          <p:cNvSpPr txBox="1"/>
          <p:nvPr/>
        </p:nvSpPr>
        <p:spPr>
          <a:xfrm>
            <a:off x="10157569" y="6223945"/>
            <a:ext cx="1618794" cy="247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E6F6EE"/>
                </a:solidFill>
                <a:latin typeface="Arial"/>
              </a:rPr>
              <a:t>vs. current 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
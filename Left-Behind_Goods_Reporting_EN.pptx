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DA5473-06A5-676D-F8B3-2F3ACC8660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vi-VN"/>
          </a:p>
        </p:txBody>
      </p:sp>
      <p:sp>
        <p:nvSpPr>
          <p:cNvPr id="3" name="Subtitle 2">
            <a:extLst>
              <a:ext uri="{FF2B5EF4-FFF2-40B4-BE49-F238E27FC236}">
                <a16:creationId xmlns:a16="http://schemas.microsoft.com/office/drawing/2014/main" id="{FF69EF83-A5DB-6719-09EB-D132A1C868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956D9561-02FA-70A4-F562-939459CA20EA}"/>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5" name="Footer Placeholder 4">
            <a:extLst>
              <a:ext uri="{FF2B5EF4-FFF2-40B4-BE49-F238E27FC236}">
                <a16:creationId xmlns:a16="http://schemas.microsoft.com/office/drawing/2014/main" id="{8A1C9EA0-19F0-20CB-70D4-956B9B13B32C}"/>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73A7F374-D59B-17B5-681D-4EDEE3604030}"/>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1199488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F36C9-5252-3333-68E4-836557DF73CD}"/>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0B2102D4-A74C-921E-9FD1-8A678836385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D6B47C95-3A63-663B-7DE4-7B30439A3813}"/>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5" name="Footer Placeholder 4">
            <a:extLst>
              <a:ext uri="{FF2B5EF4-FFF2-40B4-BE49-F238E27FC236}">
                <a16:creationId xmlns:a16="http://schemas.microsoft.com/office/drawing/2014/main" id="{962BCA61-CABA-21C9-E111-D6E47D604717}"/>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FFDB12B3-3899-3438-85C9-52FDB04687CA}"/>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2523973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C1BA55-F286-E403-21AB-DA28D6B5091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A3FBD1F5-5767-1AE5-866F-0791D01C8FE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9BD13BD-B2F3-1C23-6C45-64A14F04A5DA}"/>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5" name="Footer Placeholder 4">
            <a:extLst>
              <a:ext uri="{FF2B5EF4-FFF2-40B4-BE49-F238E27FC236}">
                <a16:creationId xmlns:a16="http://schemas.microsoft.com/office/drawing/2014/main" id="{73E7CB61-EF46-E128-3793-D492A7D1B198}"/>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3B8BBBE-6A3C-C76E-6FE6-75F715548CCA}"/>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2574203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13A1D-A5AB-D6C3-65B3-B5B19C40000D}"/>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625A9653-8928-D384-6635-15A4089C57F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12ACB641-3669-B3B3-46F9-6A837FEC97F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36BA95EE-2987-9626-EAE9-7B4730FAF4C2}"/>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6" name="Footer Placeholder 5">
            <a:extLst>
              <a:ext uri="{FF2B5EF4-FFF2-40B4-BE49-F238E27FC236}">
                <a16:creationId xmlns:a16="http://schemas.microsoft.com/office/drawing/2014/main" id="{524EA0BB-0ECC-B13A-FDBB-D798537CAE75}"/>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17E23B0-961D-F504-2A43-168072D75B55}"/>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508039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79A08D-C46E-7283-4894-6271AA3A9842}"/>
              </a:ext>
            </a:extLst>
          </p:cNvPr>
          <p:cNvSpPr>
            <a:spLocks noGrp="1"/>
          </p:cNvSpPr>
          <p:nvPr>
            <p:ph type="title"/>
          </p:nvPr>
        </p:nvSpPr>
        <p:spPr>
          <a:xfrm>
            <a:off x="839788" y="365125"/>
            <a:ext cx="10515600" cy="1325563"/>
          </a:xfrm>
        </p:spPr>
        <p:txBody>
          <a:bodyPr/>
          <a:lstStyle/>
          <a:p>
            <a:r>
              <a:rPr lang="en-US"/>
              <a:t>Click to edit Master title style</a:t>
            </a:r>
            <a:endParaRPr lang="vi-VN"/>
          </a:p>
        </p:txBody>
      </p:sp>
      <p:sp>
        <p:nvSpPr>
          <p:cNvPr id="3" name="Text Placeholder 2">
            <a:extLst>
              <a:ext uri="{FF2B5EF4-FFF2-40B4-BE49-F238E27FC236}">
                <a16:creationId xmlns:a16="http://schemas.microsoft.com/office/drawing/2014/main" id="{BC5950E9-FE69-65B0-3C67-E0E7F6ABE33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1ED190D-10D0-7A79-E150-30DD589CE5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Text Placeholder 4">
            <a:extLst>
              <a:ext uri="{FF2B5EF4-FFF2-40B4-BE49-F238E27FC236}">
                <a16:creationId xmlns:a16="http://schemas.microsoft.com/office/drawing/2014/main" id="{2F2F0493-534D-6822-8771-59FC992D331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18A572-5CDC-FBAF-2D8C-BEF11BA1EE9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7" name="Date Placeholder 6">
            <a:extLst>
              <a:ext uri="{FF2B5EF4-FFF2-40B4-BE49-F238E27FC236}">
                <a16:creationId xmlns:a16="http://schemas.microsoft.com/office/drawing/2014/main" id="{C60D1534-24ED-16BE-3A8B-F67B5E26F8ED}"/>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8" name="Footer Placeholder 7">
            <a:extLst>
              <a:ext uri="{FF2B5EF4-FFF2-40B4-BE49-F238E27FC236}">
                <a16:creationId xmlns:a16="http://schemas.microsoft.com/office/drawing/2014/main" id="{3494615E-FDEA-3570-9E2B-89D4E381F076}"/>
              </a:ext>
            </a:extLst>
          </p:cNvPr>
          <p:cNvSpPr>
            <a:spLocks noGrp="1"/>
          </p:cNvSpPr>
          <p:nvPr>
            <p:ph type="ftr" sz="quarter" idx="11"/>
          </p:nvPr>
        </p:nvSpPr>
        <p:spPr/>
        <p:txBody>
          <a:bodyPr/>
          <a:lstStyle/>
          <a:p>
            <a:endParaRPr lang="vi-VN"/>
          </a:p>
        </p:txBody>
      </p:sp>
      <p:sp>
        <p:nvSpPr>
          <p:cNvPr id="9" name="Slide Number Placeholder 8">
            <a:extLst>
              <a:ext uri="{FF2B5EF4-FFF2-40B4-BE49-F238E27FC236}">
                <a16:creationId xmlns:a16="http://schemas.microsoft.com/office/drawing/2014/main" id="{0307A116-BA0B-3BDA-EF82-B00910798E13}"/>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8371429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58067-6FEC-5C33-20B7-389F60A07F41}"/>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D24AEE15-06CF-1264-B6F6-D78C626AECC0}"/>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4" name="Footer Placeholder 3">
            <a:extLst>
              <a:ext uri="{FF2B5EF4-FFF2-40B4-BE49-F238E27FC236}">
                <a16:creationId xmlns:a16="http://schemas.microsoft.com/office/drawing/2014/main" id="{88B09B17-5761-F515-0C6B-31A740122BAB}"/>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A080DE82-87FC-74E6-82BE-4ACCF1399AB8}"/>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34275499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EB41F9-DDA8-2FA1-F426-2F43A726B676}"/>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3" name="Footer Placeholder 2">
            <a:extLst>
              <a:ext uri="{FF2B5EF4-FFF2-40B4-BE49-F238E27FC236}">
                <a16:creationId xmlns:a16="http://schemas.microsoft.com/office/drawing/2014/main" id="{9C5D4C36-F7FA-577F-6CC6-DB858C8A07D2}"/>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C5AA2F68-7031-6149-4997-1F78F194C23A}"/>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210223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E8ADF-0453-F3EA-D5F9-87305F2639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2D510C71-EA67-3833-08F1-4A5A1C32D3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7232576B-BD1B-FE74-6CBD-BB930B921A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F3AF23-C6C8-D97D-9080-A447542C267F}"/>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6" name="Footer Placeholder 5">
            <a:extLst>
              <a:ext uri="{FF2B5EF4-FFF2-40B4-BE49-F238E27FC236}">
                <a16:creationId xmlns:a16="http://schemas.microsoft.com/office/drawing/2014/main" id="{8D870DC8-FB9D-2B59-2895-310BC6FB547F}"/>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AF071F02-4352-2B7E-1BB5-F3D9054B39B4}"/>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1792886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ACB39-DC2D-5EBC-3C1B-98124952AD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39F53775-F48C-2A91-CABD-3EAA04DEFD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Text Placeholder 3">
            <a:extLst>
              <a:ext uri="{FF2B5EF4-FFF2-40B4-BE49-F238E27FC236}">
                <a16:creationId xmlns:a16="http://schemas.microsoft.com/office/drawing/2014/main" id="{2F47E381-5080-145B-4D0B-98C87BE34B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8BA13F-6989-7C7E-5172-8B804F1F922A}"/>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6" name="Footer Placeholder 5">
            <a:extLst>
              <a:ext uri="{FF2B5EF4-FFF2-40B4-BE49-F238E27FC236}">
                <a16:creationId xmlns:a16="http://schemas.microsoft.com/office/drawing/2014/main" id="{58A3447D-596F-1BD6-3832-FA5D4A4CFB3A}"/>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3D919989-3D4F-4E96-30CF-4104698A434B}"/>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34666240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8C283-5FC1-24F4-0828-90ECAFACB26B}"/>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D651165E-2CFB-4E56-1DEB-9BA3E67025F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E490ADF1-AFD6-3306-2246-9C185F99EBF5}"/>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5" name="Footer Placeholder 4">
            <a:extLst>
              <a:ext uri="{FF2B5EF4-FFF2-40B4-BE49-F238E27FC236}">
                <a16:creationId xmlns:a16="http://schemas.microsoft.com/office/drawing/2014/main" id="{18BA443D-ADB9-A2EC-853E-9463697F77B3}"/>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B12DF2C0-38CD-9CF3-8334-F6B7016320EB}"/>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20274160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DCCBFB-C9D9-D16E-98CC-1C4B72870A1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B33A379E-9FE3-F58E-8EAD-E5048D49DBA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FAFFA6AC-99B5-29D1-6D6E-9AFE04FAEC12}"/>
              </a:ext>
            </a:extLst>
          </p:cNvPr>
          <p:cNvSpPr>
            <a:spLocks noGrp="1"/>
          </p:cNvSpPr>
          <p:nvPr>
            <p:ph type="dt" sz="half" idx="10"/>
          </p:nvPr>
        </p:nvSpPr>
        <p:spPr/>
        <p:txBody>
          <a:bodyPr/>
          <a:lstStyle/>
          <a:p>
            <a:fld id="{B366C471-6E0E-43A5-95C2-5B1AE072A6CE}" type="datetimeFigureOut">
              <a:rPr lang="vi-VN" smtClean="0"/>
              <a:t>08/10/2026</a:t>
            </a:fld>
            <a:endParaRPr lang="vi-VN"/>
          </a:p>
        </p:txBody>
      </p:sp>
      <p:sp>
        <p:nvSpPr>
          <p:cNvPr id="5" name="Footer Placeholder 4">
            <a:extLst>
              <a:ext uri="{FF2B5EF4-FFF2-40B4-BE49-F238E27FC236}">
                <a16:creationId xmlns:a16="http://schemas.microsoft.com/office/drawing/2014/main" id="{EBAD0581-53AB-BC07-84B3-9226E2D1A0F6}"/>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42AF69A9-9139-9B0D-5F11-70E1D927BE5F}"/>
              </a:ext>
            </a:extLst>
          </p:cNvPr>
          <p:cNvSpPr>
            <a:spLocks noGrp="1"/>
          </p:cNvSpPr>
          <p:nvPr>
            <p:ph type="sldNum" sz="quarter" idx="12"/>
          </p:nvPr>
        </p:nvSpPr>
        <p:spPr/>
        <p:txBody>
          <a:bodyPr/>
          <a:lstStyle/>
          <a:p>
            <a:fld id="{D1EEDB93-DF84-468F-8FF2-7F9792E6C15F}" type="slidenum">
              <a:rPr lang="vi-VN" smtClean="0"/>
              <a:t>‹#›</a:t>
            </a:fld>
            <a:endParaRPr lang="vi-VN"/>
          </a:p>
        </p:txBody>
      </p:sp>
    </p:spTree>
    <p:extLst>
      <p:ext uri="{BB962C8B-B14F-4D97-AF65-F5344CB8AC3E}">
        <p14:creationId xmlns:p14="http://schemas.microsoft.com/office/powerpoint/2010/main" val="1099079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37AB10-C04D-CFFB-E6E0-95987E17568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160BF0BA-E122-F6CB-B4FA-45BBF03CBFC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86638558-2E30-162A-AAAF-7E4A18C49B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366C471-6E0E-43A5-95C2-5B1AE072A6CE}" type="datetimeFigureOut">
              <a:rPr lang="vi-VN" smtClean="0"/>
              <a:t>08/10/2026</a:t>
            </a:fld>
            <a:endParaRPr lang="vi-VN"/>
          </a:p>
        </p:txBody>
      </p:sp>
      <p:sp>
        <p:nvSpPr>
          <p:cNvPr id="5" name="Footer Placeholder 4">
            <a:extLst>
              <a:ext uri="{FF2B5EF4-FFF2-40B4-BE49-F238E27FC236}">
                <a16:creationId xmlns:a16="http://schemas.microsoft.com/office/drawing/2014/main" id="{6929B823-8987-EC87-C32A-04CDF82706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vi-VN"/>
          </a:p>
        </p:txBody>
      </p:sp>
      <p:sp>
        <p:nvSpPr>
          <p:cNvPr id="6" name="Slide Number Placeholder 5">
            <a:extLst>
              <a:ext uri="{FF2B5EF4-FFF2-40B4-BE49-F238E27FC236}">
                <a16:creationId xmlns:a16="http://schemas.microsoft.com/office/drawing/2014/main" id="{4AC58E64-169C-26A3-4C8D-11BBA35D71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1EEDB93-DF84-468F-8FF2-7F9792E6C15F}" type="slidenum">
              <a:rPr lang="vi-VN" smtClean="0"/>
              <a:t>‹#›</a:t>
            </a:fld>
            <a:endParaRPr lang="vi-VN"/>
          </a:p>
        </p:txBody>
      </p:sp>
    </p:spTree>
    <p:extLst>
      <p:ext uri="{BB962C8B-B14F-4D97-AF65-F5344CB8AC3E}">
        <p14:creationId xmlns:p14="http://schemas.microsoft.com/office/powerpoint/2010/main" val="16377732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1">
            <a:extLst>
              <a:ext uri="{FF2B5EF4-FFF2-40B4-BE49-F238E27FC236}">
                <a16:creationId xmlns:a16="http://schemas.microsoft.com/office/drawing/2014/main" id="{34AEDA5F-988C-B402-0D24-0378D6C58FAC}"/>
              </a:ext>
            </a:extLst>
          </p:cNvPr>
          <p:cNvSpPr>
            <a:spLocks noGrp="1"/>
          </p:cNvSpPr>
          <p:nvPr/>
        </p:nvSpPr>
        <p:spPr>
          <a:xfrm>
            <a:off x="280400" y="731520"/>
            <a:ext cx="6675253" cy="457200"/>
          </a:xfrm>
          <a:prstGeom prst="rect">
            <a:avLst/>
          </a:prstGeom>
          <a:noFill/>
          <a:ln w="0">
            <a:noFill/>
          </a:ln>
        </p:spPr>
        <p:txBody>
          <a:bodyPr lIns="0" tIns="0" rIns="0" bIns="0" anchor="ctr">
            <a:noAutofit/>
          </a:bodyPr>
          <a:lstStyle/>
          <a:p>
            <a:pPr algn="l">
              <a:defRPr sz="3450" b="1">
                <a:solidFill>
                  <a:srgbClr val="173665"/>
                </a:solidFill>
                <a:latin typeface="DejaVu Sans"/>
                <a:ea typeface="DejaVu Sans"/>
                <a:cs typeface="DejaVu Sans"/>
              </a:defRPr>
            </a:pPr>
            <a:r>
              <a:rPr sz="2800" b="1">
                <a:solidFill>
                  <a:srgbClr val="173665"/>
                </a:solidFill>
                <a:latin typeface="Aptos" panose="020B0004020202020204" pitchFamily="34" charset="0"/>
                <a:ea typeface="DejaVu Sans"/>
                <a:cs typeface="DejaVu Sans"/>
              </a:rPr>
              <a:t>LEFT-BEHIND GOODS REPORTING</a:t>
            </a:r>
          </a:p>
        </p:txBody>
      </p:sp>
      <p:sp>
        <p:nvSpPr>
          <p:cNvPr id="5" name="shape-2">
            <a:extLst>
              <a:ext uri="{FF2B5EF4-FFF2-40B4-BE49-F238E27FC236}">
                <a16:creationId xmlns:a16="http://schemas.microsoft.com/office/drawing/2014/main" id="{7156DFA6-5CB1-AAD5-7D83-7C3D5D9E5BB1}"/>
              </a:ext>
            </a:extLst>
          </p:cNvPr>
          <p:cNvSpPr>
            <a:spLocks noGrp="1"/>
          </p:cNvSpPr>
          <p:nvPr/>
        </p:nvSpPr>
        <p:spPr>
          <a:xfrm>
            <a:off x="7067496" y="783630"/>
            <a:ext cx="4844104" cy="457200"/>
          </a:xfrm>
          <a:prstGeom prst="roundRect">
            <a:avLst>
              <a:gd name="adj" fmla="val 18750"/>
            </a:avLst>
          </a:prstGeom>
          <a:solidFill>
            <a:srgbClr val="EAF3FB"/>
          </a:solidFill>
          <a:ln w="0">
            <a:noFill/>
          </a:ln>
        </p:spPr>
        <p:txBody>
          <a:bodyPr/>
          <a:lstStyle/>
          <a:p>
            <a:endParaRPr lang="en-US"/>
          </a:p>
        </p:txBody>
      </p:sp>
      <p:sp>
        <p:nvSpPr>
          <p:cNvPr id="6" name="shape-4">
            <a:extLst>
              <a:ext uri="{FF2B5EF4-FFF2-40B4-BE49-F238E27FC236}">
                <a16:creationId xmlns:a16="http://schemas.microsoft.com/office/drawing/2014/main" id="{C1F67D22-C1B0-1D0A-F892-8BF71E3E1264}"/>
              </a:ext>
            </a:extLst>
          </p:cNvPr>
          <p:cNvSpPr>
            <a:spLocks noGrp="1"/>
          </p:cNvSpPr>
          <p:nvPr/>
        </p:nvSpPr>
        <p:spPr>
          <a:xfrm>
            <a:off x="229584" y="1874074"/>
            <a:ext cx="3612706" cy="429260"/>
          </a:xfrm>
          <a:prstGeom prst="roundRect">
            <a:avLst>
              <a:gd name="adj" fmla="val 16667"/>
            </a:avLst>
          </a:prstGeom>
          <a:solidFill>
            <a:srgbClr val="E85B17"/>
          </a:solidFill>
          <a:ln w="0">
            <a:noFill/>
          </a:ln>
        </p:spPr>
        <p:txBody>
          <a:bodyPr/>
          <a:lstStyle/>
          <a:p>
            <a:endParaRPr lang="en-US" sz="700">
              <a:latin typeface="Aptos" panose="020B0004020202020204" pitchFamily="34" charset="0"/>
            </a:endParaRPr>
          </a:p>
        </p:txBody>
      </p:sp>
      <p:sp>
        <p:nvSpPr>
          <p:cNvPr id="7" name="shape-6">
            <a:extLst>
              <a:ext uri="{FF2B5EF4-FFF2-40B4-BE49-F238E27FC236}">
                <a16:creationId xmlns:a16="http://schemas.microsoft.com/office/drawing/2014/main" id="{C3F96C77-D5EB-E03B-AB4C-5E3A6ABF4A39}"/>
              </a:ext>
            </a:extLst>
          </p:cNvPr>
          <p:cNvSpPr>
            <a:spLocks noGrp="1"/>
          </p:cNvSpPr>
          <p:nvPr/>
        </p:nvSpPr>
        <p:spPr>
          <a:xfrm>
            <a:off x="1039209" y="1874074"/>
            <a:ext cx="2682875" cy="429260"/>
          </a:xfrm>
          <a:prstGeom prst="rect">
            <a:avLst/>
          </a:prstGeom>
          <a:noFill/>
          <a:ln w="0">
            <a:noFill/>
          </a:ln>
        </p:spPr>
        <p:txBody>
          <a:bodyPr lIns="0" tIns="0" rIns="0" bIns="0" anchor="ctr">
            <a:noAutofit/>
          </a:bodyPr>
          <a:lstStyle/>
          <a:p>
            <a:pPr algn="l">
              <a:defRPr sz="2175" b="1">
                <a:solidFill>
                  <a:srgbClr val="FFFFFF"/>
                </a:solidFill>
                <a:latin typeface="DejaVu Sans"/>
                <a:ea typeface="DejaVu Sans"/>
                <a:cs typeface="DejaVu Sans"/>
              </a:defRPr>
            </a:pPr>
            <a:r>
              <a:rPr sz="2000" b="1">
                <a:solidFill>
                  <a:srgbClr val="FFFFFF"/>
                </a:solidFill>
                <a:latin typeface="Aptos" panose="020B0004020202020204" pitchFamily="34" charset="0"/>
                <a:ea typeface="DejaVu Sans"/>
                <a:cs typeface="DejaVu Sans"/>
              </a:rPr>
              <a:t>CURRENT STATE</a:t>
            </a:r>
          </a:p>
        </p:txBody>
      </p:sp>
      <p:sp>
        <p:nvSpPr>
          <p:cNvPr id="8" name="shape-7">
            <a:extLst>
              <a:ext uri="{FF2B5EF4-FFF2-40B4-BE49-F238E27FC236}">
                <a16:creationId xmlns:a16="http://schemas.microsoft.com/office/drawing/2014/main" id="{D733501E-7BD7-BB2E-8478-7329E2640B32}"/>
              </a:ext>
            </a:extLst>
          </p:cNvPr>
          <p:cNvSpPr>
            <a:spLocks noGrp="1"/>
          </p:cNvSpPr>
          <p:nvPr/>
        </p:nvSpPr>
        <p:spPr>
          <a:xfrm>
            <a:off x="229584" y="2393251"/>
            <a:ext cx="3642360" cy="1734186"/>
          </a:xfrm>
          <a:prstGeom prst="roundRect">
            <a:avLst>
              <a:gd name="adj" fmla="val 4317"/>
            </a:avLst>
          </a:prstGeom>
          <a:solidFill>
            <a:srgbClr val="FFF4EC"/>
          </a:solidFill>
          <a:ln w="0">
            <a:noFill/>
          </a:ln>
        </p:spPr>
        <p:txBody>
          <a:bodyPr/>
          <a:lstStyle/>
          <a:p>
            <a:endParaRPr lang="en-US" sz="700"/>
          </a:p>
        </p:txBody>
      </p:sp>
      <p:sp>
        <p:nvSpPr>
          <p:cNvPr id="9" name="shape-8">
            <a:extLst>
              <a:ext uri="{FF2B5EF4-FFF2-40B4-BE49-F238E27FC236}">
                <a16:creationId xmlns:a16="http://schemas.microsoft.com/office/drawing/2014/main" id="{5549FF42-7C15-2B8A-609B-54F6EA7958FB}"/>
              </a:ext>
            </a:extLst>
          </p:cNvPr>
          <p:cNvSpPr>
            <a:spLocks noGrp="1"/>
          </p:cNvSpPr>
          <p:nvPr/>
        </p:nvSpPr>
        <p:spPr>
          <a:xfrm>
            <a:off x="250729" y="4206317"/>
            <a:ext cx="3642359" cy="1734184"/>
          </a:xfrm>
          <a:prstGeom prst="roundRect">
            <a:avLst>
              <a:gd name="adj" fmla="val 5333"/>
            </a:avLst>
          </a:prstGeom>
          <a:solidFill>
            <a:srgbClr val="FFF4EC"/>
          </a:solidFill>
          <a:ln w="0">
            <a:noFill/>
          </a:ln>
        </p:spPr>
        <p:txBody>
          <a:bodyPr/>
          <a:lstStyle/>
          <a:p>
            <a:endParaRPr lang="en-US" sz="700"/>
          </a:p>
        </p:txBody>
      </p:sp>
      <p:sp>
        <p:nvSpPr>
          <p:cNvPr id="10" name="shape-40">
            <a:extLst>
              <a:ext uri="{FF2B5EF4-FFF2-40B4-BE49-F238E27FC236}">
                <a16:creationId xmlns:a16="http://schemas.microsoft.com/office/drawing/2014/main" id="{60F3D73C-4F22-D2D1-A23B-8747F4F304C8}"/>
              </a:ext>
            </a:extLst>
          </p:cNvPr>
          <p:cNvSpPr>
            <a:spLocks noGrp="1"/>
          </p:cNvSpPr>
          <p:nvPr/>
        </p:nvSpPr>
        <p:spPr>
          <a:xfrm>
            <a:off x="4180679" y="1874074"/>
            <a:ext cx="3638693" cy="429260"/>
          </a:xfrm>
          <a:prstGeom prst="roundRect">
            <a:avLst>
              <a:gd name="adj" fmla="val 16667"/>
            </a:avLst>
          </a:prstGeom>
          <a:solidFill>
            <a:srgbClr val="1469B9"/>
          </a:solidFill>
          <a:ln w="0">
            <a:noFill/>
          </a:ln>
        </p:spPr>
        <p:txBody>
          <a:bodyPr/>
          <a:lstStyle/>
          <a:p>
            <a:endParaRPr lang="en-US" sz="700">
              <a:latin typeface="Aptos" panose="020B0004020202020204" pitchFamily="34" charset="0"/>
            </a:endParaRPr>
          </a:p>
        </p:txBody>
      </p:sp>
      <p:sp>
        <p:nvSpPr>
          <p:cNvPr id="11" name="shape-42">
            <a:extLst>
              <a:ext uri="{FF2B5EF4-FFF2-40B4-BE49-F238E27FC236}">
                <a16:creationId xmlns:a16="http://schemas.microsoft.com/office/drawing/2014/main" id="{C28E7437-CA5F-BF95-A613-FB95CC1BBCAF}"/>
              </a:ext>
            </a:extLst>
          </p:cNvPr>
          <p:cNvSpPr>
            <a:spLocks noGrp="1"/>
          </p:cNvSpPr>
          <p:nvPr/>
        </p:nvSpPr>
        <p:spPr>
          <a:xfrm>
            <a:off x="4990305" y="1874074"/>
            <a:ext cx="2682875" cy="429260"/>
          </a:xfrm>
          <a:prstGeom prst="rect">
            <a:avLst/>
          </a:prstGeom>
          <a:noFill/>
          <a:ln w="0">
            <a:noFill/>
          </a:ln>
        </p:spPr>
        <p:txBody>
          <a:bodyPr lIns="0" tIns="0" rIns="0" bIns="0" anchor="ctr">
            <a:noAutofit/>
          </a:bodyPr>
          <a:lstStyle/>
          <a:p>
            <a:pPr algn="l">
              <a:defRPr sz="2175" b="1">
                <a:solidFill>
                  <a:srgbClr val="FFFFFF"/>
                </a:solidFill>
                <a:latin typeface="DejaVu Sans"/>
                <a:ea typeface="DejaVu Sans"/>
                <a:cs typeface="DejaVu Sans"/>
              </a:defRPr>
            </a:pPr>
            <a:r>
              <a:rPr sz="2000" b="1">
                <a:solidFill>
                  <a:srgbClr val="FFFFFF"/>
                </a:solidFill>
                <a:latin typeface="Aptos" panose="020B0004020202020204" pitchFamily="34" charset="0"/>
                <a:ea typeface="DejaVu Sans"/>
                <a:cs typeface="DejaVu Sans"/>
              </a:rPr>
              <a:t>IMPROVEMENT 1</a:t>
            </a:r>
          </a:p>
        </p:txBody>
      </p:sp>
      <p:sp>
        <p:nvSpPr>
          <p:cNvPr id="12" name="shape-43">
            <a:extLst>
              <a:ext uri="{FF2B5EF4-FFF2-40B4-BE49-F238E27FC236}">
                <a16:creationId xmlns:a16="http://schemas.microsoft.com/office/drawing/2014/main" id="{121BF59C-6C72-5395-CF23-704C47020C18}"/>
              </a:ext>
            </a:extLst>
          </p:cNvPr>
          <p:cNvSpPr>
            <a:spLocks noGrp="1"/>
          </p:cNvSpPr>
          <p:nvPr/>
        </p:nvSpPr>
        <p:spPr>
          <a:xfrm>
            <a:off x="4180680" y="2393250"/>
            <a:ext cx="3642360" cy="1734187"/>
          </a:xfrm>
          <a:prstGeom prst="roundRect">
            <a:avLst>
              <a:gd name="adj" fmla="val 4317"/>
            </a:avLst>
          </a:prstGeom>
          <a:solidFill>
            <a:srgbClr val="EDF5FC"/>
          </a:solidFill>
          <a:ln w="0">
            <a:noFill/>
          </a:ln>
        </p:spPr>
        <p:txBody>
          <a:bodyPr/>
          <a:lstStyle/>
          <a:p>
            <a:endParaRPr lang="en-US" sz="700"/>
          </a:p>
        </p:txBody>
      </p:sp>
      <p:sp>
        <p:nvSpPr>
          <p:cNvPr id="13" name="shape-44">
            <a:extLst>
              <a:ext uri="{FF2B5EF4-FFF2-40B4-BE49-F238E27FC236}">
                <a16:creationId xmlns:a16="http://schemas.microsoft.com/office/drawing/2014/main" id="{416DB098-61E6-7B27-E5D0-6228726FF775}"/>
              </a:ext>
            </a:extLst>
          </p:cNvPr>
          <p:cNvSpPr>
            <a:spLocks noGrp="1"/>
          </p:cNvSpPr>
          <p:nvPr/>
        </p:nvSpPr>
        <p:spPr>
          <a:xfrm>
            <a:off x="4177014" y="4206317"/>
            <a:ext cx="3642359" cy="1734184"/>
          </a:xfrm>
          <a:prstGeom prst="roundRect">
            <a:avLst>
              <a:gd name="adj" fmla="val 5333"/>
            </a:avLst>
          </a:prstGeom>
          <a:solidFill>
            <a:srgbClr val="EDF5FC"/>
          </a:solidFill>
          <a:ln w="0">
            <a:noFill/>
          </a:ln>
        </p:spPr>
        <p:txBody>
          <a:bodyPr/>
          <a:lstStyle/>
          <a:p>
            <a:endParaRPr lang="en-US" sz="700"/>
          </a:p>
        </p:txBody>
      </p:sp>
      <p:sp>
        <p:nvSpPr>
          <p:cNvPr id="14" name="shape-76">
            <a:extLst>
              <a:ext uri="{FF2B5EF4-FFF2-40B4-BE49-F238E27FC236}">
                <a16:creationId xmlns:a16="http://schemas.microsoft.com/office/drawing/2014/main" id="{BDBB3AEC-8A28-E34A-8CE3-96D3E54753B2}"/>
              </a:ext>
            </a:extLst>
          </p:cNvPr>
          <p:cNvSpPr>
            <a:spLocks noGrp="1"/>
          </p:cNvSpPr>
          <p:nvPr/>
        </p:nvSpPr>
        <p:spPr>
          <a:xfrm>
            <a:off x="8058570" y="1874074"/>
            <a:ext cx="3982014" cy="429260"/>
          </a:xfrm>
          <a:prstGeom prst="roundRect">
            <a:avLst>
              <a:gd name="adj" fmla="val 16667"/>
            </a:avLst>
          </a:prstGeom>
          <a:solidFill>
            <a:srgbClr val="218447"/>
          </a:solidFill>
          <a:ln w="0">
            <a:noFill/>
          </a:ln>
        </p:spPr>
        <p:txBody>
          <a:bodyPr/>
          <a:lstStyle/>
          <a:p>
            <a:endParaRPr lang="en-US" sz="700">
              <a:latin typeface="Aptos" panose="020B0004020202020204" pitchFamily="34" charset="0"/>
            </a:endParaRPr>
          </a:p>
        </p:txBody>
      </p:sp>
      <p:sp>
        <p:nvSpPr>
          <p:cNvPr id="15" name="shape-78">
            <a:extLst>
              <a:ext uri="{FF2B5EF4-FFF2-40B4-BE49-F238E27FC236}">
                <a16:creationId xmlns:a16="http://schemas.microsoft.com/office/drawing/2014/main" id="{ADC99DEA-C4FB-0CBD-4D5C-87C48B2AA13A}"/>
              </a:ext>
            </a:extLst>
          </p:cNvPr>
          <p:cNvSpPr>
            <a:spLocks noGrp="1"/>
          </p:cNvSpPr>
          <p:nvPr/>
        </p:nvSpPr>
        <p:spPr>
          <a:xfrm>
            <a:off x="9040209" y="1874074"/>
            <a:ext cx="2682875" cy="429260"/>
          </a:xfrm>
          <a:prstGeom prst="rect">
            <a:avLst/>
          </a:prstGeom>
          <a:noFill/>
          <a:ln w="0">
            <a:noFill/>
          </a:ln>
        </p:spPr>
        <p:txBody>
          <a:bodyPr lIns="0" tIns="0" rIns="0" bIns="0" anchor="ctr">
            <a:noAutofit/>
          </a:bodyPr>
          <a:lstStyle/>
          <a:p>
            <a:pPr algn="l">
              <a:defRPr sz="2175" b="1">
                <a:solidFill>
                  <a:srgbClr val="FFFFFF"/>
                </a:solidFill>
                <a:latin typeface="DejaVu Sans"/>
                <a:ea typeface="DejaVu Sans"/>
                <a:cs typeface="DejaVu Sans"/>
              </a:defRPr>
            </a:pPr>
            <a:r>
              <a:rPr sz="2000" b="1">
                <a:solidFill>
                  <a:srgbClr val="FFFFFF"/>
                </a:solidFill>
                <a:latin typeface="Aptos" panose="020B0004020202020204" pitchFamily="34" charset="0"/>
                <a:ea typeface="DejaVu Sans"/>
                <a:cs typeface="DejaVu Sans"/>
              </a:rPr>
              <a:t>IMPROVEMENT 2</a:t>
            </a:r>
          </a:p>
        </p:txBody>
      </p:sp>
      <p:sp>
        <p:nvSpPr>
          <p:cNvPr id="16" name="shape-79">
            <a:extLst>
              <a:ext uri="{FF2B5EF4-FFF2-40B4-BE49-F238E27FC236}">
                <a16:creationId xmlns:a16="http://schemas.microsoft.com/office/drawing/2014/main" id="{D181CFBD-D2D8-DBA3-FED8-0CB701B138E1}"/>
              </a:ext>
            </a:extLst>
          </p:cNvPr>
          <p:cNvSpPr>
            <a:spLocks noGrp="1"/>
          </p:cNvSpPr>
          <p:nvPr/>
        </p:nvSpPr>
        <p:spPr>
          <a:xfrm>
            <a:off x="8058570" y="2393250"/>
            <a:ext cx="3982014" cy="1734187"/>
          </a:xfrm>
          <a:prstGeom prst="roundRect">
            <a:avLst>
              <a:gd name="adj" fmla="val 4317"/>
            </a:avLst>
          </a:prstGeom>
          <a:solidFill>
            <a:srgbClr val="EEF8F0"/>
          </a:solidFill>
          <a:ln w="0">
            <a:noFill/>
          </a:ln>
        </p:spPr>
        <p:txBody>
          <a:bodyPr/>
          <a:lstStyle/>
          <a:p>
            <a:endParaRPr lang="en-US" sz="700">
              <a:solidFill>
                <a:schemeClr val="bg1"/>
              </a:solidFill>
            </a:endParaRPr>
          </a:p>
        </p:txBody>
      </p:sp>
      <p:sp>
        <p:nvSpPr>
          <p:cNvPr id="17" name="shape-80">
            <a:extLst>
              <a:ext uri="{FF2B5EF4-FFF2-40B4-BE49-F238E27FC236}">
                <a16:creationId xmlns:a16="http://schemas.microsoft.com/office/drawing/2014/main" id="{D249965F-A8FA-178C-B64A-F250E7BD3739}"/>
              </a:ext>
            </a:extLst>
          </p:cNvPr>
          <p:cNvSpPr>
            <a:spLocks noGrp="1"/>
          </p:cNvSpPr>
          <p:nvPr/>
        </p:nvSpPr>
        <p:spPr>
          <a:xfrm>
            <a:off x="8058569" y="4206317"/>
            <a:ext cx="3982015" cy="1734179"/>
          </a:xfrm>
          <a:prstGeom prst="roundRect">
            <a:avLst>
              <a:gd name="adj" fmla="val 5333"/>
            </a:avLst>
          </a:prstGeom>
          <a:solidFill>
            <a:srgbClr val="EEF8F0"/>
          </a:solidFill>
          <a:ln w="0">
            <a:noFill/>
          </a:ln>
        </p:spPr>
        <p:txBody>
          <a:bodyPr/>
          <a:lstStyle/>
          <a:p>
            <a:endParaRPr lang="en-US" sz="700"/>
          </a:p>
        </p:txBody>
      </p:sp>
      <p:sp>
        <p:nvSpPr>
          <p:cNvPr id="18" name="Oval 17">
            <a:extLst>
              <a:ext uri="{FF2B5EF4-FFF2-40B4-BE49-F238E27FC236}">
                <a16:creationId xmlns:a16="http://schemas.microsoft.com/office/drawing/2014/main" id="{F9F6F587-55ED-5F21-7036-2F30D2E1E7B8}"/>
              </a:ext>
            </a:extLst>
          </p:cNvPr>
          <p:cNvSpPr/>
          <p:nvPr/>
        </p:nvSpPr>
        <p:spPr>
          <a:xfrm>
            <a:off x="166084" y="1842821"/>
            <a:ext cx="491765" cy="491765"/>
          </a:xfrm>
          <a:prstGeom prst="ellipse">
            <a:avLst/>
          </a:prstGeom>
          <a:solidFill>
            <a:srgbClr val="E85B17"/>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ptos" panose="020B0004020202020204" pitchFamily="34" charset="0"/>
            </a:endParaRPr>
          </a:p>
        </p:txBody>
      </p:sp>
      <p:sp>
        <p:nvSpPr>
          <p:cNvPr id="19" name="shape-5">
            <a:extLst>
              <a:ext uri="{FF2B5EF4-FFF2-40B4-BE49-F238E27FC236}">
                <a16:creationId xmlns:a16="http://schemas.microsoft.com/office/drawing/2014/main" id="{D5D1724A-D553-9D01-E837-BDEA03C85F97}"/>
              </a:ext>
            </a:extLst>
          </p:cNvPr>
          <p:cNvSpPr>
            <a:spLocks noGrp="1"/>
          </p:cNvSpPr>
          <p:nvPr/>
        </p:nvSpPr>
        <p:spPr>
          <a:xfrm>
            <a:off x="240569" y="1874074"/>
            <a:ext cx="379180" cy="429260"/>
          </a:xfrm>
          <a:prstGeom prst="rect">
            <a:avLst/>
          </a:prstGeom>
          <a:noFill/>
          <a:ln w="0">
            <a:noFill/>
          </a:ln>
        </p:spPr>
        <p:txBody>
          <a:bodyPr lIns="0" tIns="0" rIns="0" bIns="0" anchor="ctr">
            <a:noAutofit/>
          </a:bodyPr>
          <a:lstStyle/>
          <a:p>
            <a:pPr algn="l">
              <a:defRPr sz="2175" b="1">
                <a:solidFill>
                  <a:srgbClr val="FFFFFF"/>
                </a:solidFill>
                <a:latin typeface="DejaVu Sans"/>
                <a:ea typeface="DejaVu Sans"/>
                <a:cs typeface="DejaVu Sans"/>
              </a:defRPr>
            </a:pPr>
            <a:r>
              <a:rPr sz="2000" b="1">
                <a:solidFill>
                  <a:srgbClr val="FFFFFF"/>
                </a:solidFill>
                <a:latin typeface="Aptos" panose="020B0004020202020204" pitchFamily="34" charset="0"/>
                <a:ea typeface="DejaVu Sans"/>
                <a:cs typeface="DejaVu Sans"/>
              </a:rPr>
              <a:t>01</a:t>
            </a:r>
          </a:p>
        </p:txBody>
      </p:sp>
      <p:sp>
        <p:nvSpPr>
          <p:cNvPr id="20" name="Oval 19">
            <a:extLst>
              <a:ext uri="{FF2B5EF4-FFF2-40B4-BE49-F238E27FC236}">
                <a16:creationId xmlns:a16="http://schemas.microsoft.com/office/drawing/2014/main" id="{2C24FBD9-78A6-D50C-6331-451B955C6BFE}"/>
              </a:ext>
            </a:extLst>
          </p:cNvPr>
          <p:cNvSpPr/>
          <p:nvPr/>
        </p:nvSpPr>
        <p:spPr>
          <a:xfrm>
            <a:off x="4122260" y="1842821"/>
            <a:ext cx="491765" cy="491765"/>
          </a:xfrm>
          <a:prstGeom prst="ellipse">
            <a:avLst/>
          </a:prstGeom>
          <a:solidFill>
            <a:srgbClr val="1469B9"/>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ptos" panose="020B0004020202020204" pitchFamily="34" charset="0"/>
            </a:endParaRPr>
          </a:p>
        </p:txBody>
      </p:sp>
      <p:sp>
        <p:nvSpPr>
          <p:cNvPr id="21" name="shape-41">
            <a:extLst>
              <a:ext uri="{FF2B5EF4-FFF2-40B4-BE49-F238E27FC236}">
                <a16:creationId xmlns:a16="http://schemas.microsoft.com/office/drawing/2014/main" id="{8E040210-4610-5F91-1576-9B9202C2197F}"/>
              </a:ext>
            </a:extLst>
          </p:cNvPr>
          <p:cNvSpPr>
            <a:spLocks noGrp="1"/>
          </p:cNvSpPr>
          <p:nvPr/>
        </p:nvSpPr>
        <p:spPr>
          <a:xfrm>
            <a:off x="4191665" y="1869766"/>
            <a:ext cx="379180" cy="429260"/>
          </a:xfrm>
          <a:prstGeom prst="rect">
            <a:avLst/>
          </a:prstGeom>
          <a:noFill/>
          <a:ln w="0">
            <a:noFill/>
          </a:ln>
        </p:spPr>
        <p:txBody>
          <a:bodyPr lIns="0" tIns="0" rIns="0" bIns="0" anchor="ctr">
            <a:noAutofit/>
          </a:bodyPr>
          <a:lstStyle/>
          <a:p>
            <a:pPr algn="l">
              <a:defRPr sz="2175" b="1">
                <a:solidFill>
                  <a:srgbClr val="FFFFFF"/>
                </a:solidFill>
                <a:latin typeface="DejaVu Sans"/>
                <a:ea typeface="DejaVu Sans"/>
                <a:cs typeface="DejaVu Sans"/>
              </a:defRPr>
            </a:pPr>
            <a:r>
              <a:rPr sz="2000" b="1">
                <a:solidFill>
                  <a:srgbClr val="FFFFFF"/>
                </a:solidFill>
                <a:latin typeface="Aptos" panose="020B0004020202020204" pitchFamily="34" charset="0"/>
                <a:ea typeface="DejaVu Sans"/>
                <a:cs typeface="DejaVu Sans"/>
              </a:rPr>
              <a:t>02</a:t>
            </a:r>
          </a:p>
        </p:txBody>
      </p:sp>
      <p:sp>
        <p:nvSpPr>
          <p:cNvPr id="22" name="Oval 21">
            <a:extLst>
              <a:ext uri="{FF2B5EF4-FFF2-40B4-BE49-F238E27FC236}">
                <a16:creationId xmlns:a16="http://schemas.microsoft.com/office/drawing/2014/main" id="{166B0796-6F77-0F50-7B6D-684CA87851F1}"/>
              </a:ext>
            </a:extLst>
          </p:cNvPr>
          <p:cNvSpPr/>
          <p:nvPr/>
        </p:nvSpPr>
        <p:spPr>
          <a:xfrm>
            <a:off x="7996929" y="1824569"/>
            <a:ext cx="491765" cy="491765"/>
          </a:xfrm>
          <a:prstGeom prst="ellipse">
            <a:avLst/>
          </a:prstGeom>
          <a:solidFill>
            <a:srgbClr val="218447"/>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ptos" panose="020B0004020202020204" pitchFamily="34" charset="0"/>
            </a:endParaRPr>
          </a:p>
        </p:txBody>
      </p:sp>
      <p:sp>
        <p:nvSpPr>
          <p:cNvPr id="23" name="shape-77">
            <a:extLst>
              <a:ext uri="{FF2B5EF4-FFF2-40B4-BE49-F238E27FC236}">
                <a16:creationId xmlns:a16="http://schemas.microsoft.com/office/drawing/2014/main" id="{93831D73-9942-2F2F-50B0-447DE260D0CF}"/>
              </a:ext>
            </a:extLst>
          </p:cNvPr>
          <p:cNvSpPr>
            <a:spLocks noGrp="1"/>
          </p:cNvSpPr>
          <p:nvPr/>
        </p:nvSpPr>
        <p:spPr>
          <a:xfrm>
            <a:off x="8143257" y="1869766"/>
            <a:ext cx="379180" cy="429260"/>
          </a:xfrm>
          <a:prstGeom prst="rect">
            <a:avLst/>
          </a:prstGeom>
          <a:noFill/>
          <a:ln w="0">
            <a:noFill/>
          </a:ln>
        </p:spPr>
        <p:txBody>
          <a:bodyPr lIns="0" tIns="0" rIns="0" bIns="0" anchor="ctr">
            <a:noAutofit/>
          </a:bodyPr>
          <a:lstStyle/>
          <a:p>
            <a:pPr algn="l">
              <a:defRPr sz="2175" b="1">
                <a:solidFill>
                  <a:srgbClr val="FFFFFF"/>
                </a:solidFill>
                <a:latin typeface="DejaVu Sans"/>
                <a:ea typeface="DejaVu Sans"/>
                <a:cs typeface="DejaVu Sans"/>
              </a:defRPr>
            </a:pPr>
            <a:r>
              <a:rPr sz="2000" b="1">
                <a:solidFill>
                  <a:srgbClr val="FFFFFF"/>
                </a:solidFill>
                <a:latin typeface="Aptos" panose="020B0004020202020204" pitchFamily="34" charset="0"/>
                <a:ea typeface="DejaVu Sans"/>
                <a:cs typeface="DejaVu Sans"/>
              </a:rPr>
              <a:t>03</a:t>
            </a:r>
          </a:p>
        </p:txBody>
      </p:sp>
      <p:sp>
        <p:nvSpPr>
          <p:cNvPr id="24" name="TextBox 23">
            <a:extLst>
              <a:ext uri="{FF2B5EF4-FFF2-40B4-BE49-F238E27FC236}">
                <a16:creationId xmlns:a16="http://schemas.microsoft.com/office/drawing/2014/main" id="{8892068E-8C6F-3E8B-9AE8-50D692510EED}"/>
              </a:ext>
            </a:extLst>
          </p:cNvPr>
          <p:cNvSpPr txBox="1"/>
          <p:nvPr/>
        </p:nvSpPr>
        <p:spPr>
          <a:xfrm>
            <a:off x="925543" y="2434885"/>
            <a:ext cx="2796541" cy="507831"/>
          </a:xfrm>
          <a:prstGeom prst="rect">
            <a:avLst/>
          </a:prstGeom>
          <a:noFill/>
        </p:spPr>
        <p:txBody>
          <a:bodyPr wrap="square" rtlCol="0">
            <a:spAutoFit/>
          </a:bodyPr>
          <a:lstStyle/>
          <a:p>
            <a:r>
              <a:rPr lang="en-US" sz="1600" b="1">
                <a:solidFill>
                  <a:srgbClr val="002060"/>
                </a:solidFill>
              </a:rPr>
              <a:t>On-site Recording</a:t>
            </a:r>
          </a:p>
          <a:p>
            <a:r>
              <a:rPr lang="en-US" sz="1100">
                <a:solidFill>
                  <a:srgbClr val="002060"/>
                </a:solidFill>
              </a:rPr>
              <a:t>Staff fill in paper slips manually</a:t>
            </a:r>
          </a:p>
        </p:txBody>
      </p:sp>
      <p:pic>
        <p:nvPicPr>
          <p:cNvPr id="25" name="Picture 24">
            <a:extLst>
              <a:ext uri="{FF2B5EF4-FFF2-40B4-BE49-F238E27FC236}">
                <a16:creationId xmlns:a16="http://schemas.microsoft.com/office/drawing/2014/main" id="{79A1248E-1A9B-B7B2-C9C7-71685DDBEB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367" y="2416616"/>
            <a:ext cx="482600" cy="482600"/>
          </a:xfrm>
          <a:prstGeom prst="rect">
            <a:avLst/>
          </a:prstGeom>
        </p:spPr>
      </p:pic>
      <p:sp>
        <p:nvSpPr>
          <p:cNvPr id="26" name="TextBox 25">
            <a:extLst>
              <a:ext uri="{FF2B5EF4-FFF2-40B4-BE49-F238E27FC236}">
                <a16:creationId xmlns:a16="http://schemas.microsoft.com/office/drawing/2014/main" id="{5E16EADA-2DA2-1AD3-D016-91C5929EFCAC}"/>
              </a:ext>
            </a:extLst>
          </p:cNvPr>
          <p:cNvSpPr txBox="1"/>
          <p:nvPr/>
        </p:nvSpPr>
        <p:spPr>
          <a:xfrm>
            <a:off x="4857865" y="2434885"/>
            <a:ext cx="2698475" cy="507831"/>
          </a:xfrm>
          <a:prstGeom prst="rect">
            <a:avLst/>
          </a:prstGeom>
          <a:noFill/>
        </p:spPr>
        <p:txBody>
          <a:bodyPr wrap="square" rtlCol="0">
            <a:spAutoFit/>
          </a:bodyPr>
          <a:lstStyle/>
          <a:p>
            <a:r>
              <a:rPr lang="en-US" sz="1600" b="1">
                <a:solidFill>
                  <a:srgbClr val="002060"/>
                </a:solidFill>
              </a:rPr>
              <a:t>On-site Recording</a:t>
            </a:r>
          </a:p>
          <a:p>
            <a:r>
              <a:rPr lang="en-US" sz="1100">
                <a:solidFill>
                  <a:srgbClr val="002060"/>
                </a:solidFill>
              </a:rPr>
              <a:t>Staff fill in paper slips manually</a:t>
            </a:r>
          </a:p>
        </p:txBody>
      </p:sp>
      <p:sp>
        <p:nvSpPr>
          <p:cNvPr id="27" name="TextBox 26">
            <a:extLst>
              <a:ext uri="{FF2B5EF4-FFF2-40B4-BE49-F238E27FC236}">
                <a16:creationId xmlns:a16="http://schemas.microsoft.com/office/drawing/2014/main" id="{16639343-D797-E893-D1C4-390EABFE890D}"/>
              </a:ext>
            </a:extLst>
          </p:cNvPr>
          <p:cNvSpPr txBox="1"/>
          <p:nvPr/>
        </p:nvSpPr>
        <p:spPr>
          <a:xfrm>
            <a:off x="8848449" y="2434885"/>
            <a:ext cx="3264895" cy="507831"/>
          </a:xfrm>
          <a:prstGeom prst="rect">
            <a:avLst/>
          </a:prstGeom>
          <a:noFill/>
        </p:spPr>
        <p:txBody>
          <a:bodyPr wrap="square" rtlCol="0">
            <a:spAutoFit/>
          </a:bodyPr>
          <a:lstStyle/>
          <a:p>
            <a:r>
              <a:rPr lang="en-US" sz="1600" b="1">
                <a:solidFill>
                  <a:srgbClr val="002060"/>
                </a:solidFill>
              </a:rPr>
              <a:t>On-site Recording</a:t>
            </a:r>
          </a:p>
          <a:p>
            <a:r>
              <a:rPr lang="en-US" sz="1100">
                <a:solidFill>
                  <a:srgbClr val="002060"/>
                </a:solidFill>
              </a:rPr>
              <a:t>Staff scan QR codes via </a:t>
            </a:r>
            <a:r>
              <a:rPr lang="en-US" sz="1100" b="1">
                <a:solidFill>
                  <a:srgbClr val="002060"/>
                </a:solidFill>
              </a:rPr>
              <a:t>Power Apps</a:t>
            </a:r>
          </a:p>
        </p:txBody>
      </p:sp>
      <p:sp>
        <p:nvSpPr>
          <p:cNvPr id="28" name="shape-10">
            <a:extLst>
              <a:ext uri="{FF2B5EF4-FFF2-40B4-BE49-F238E27FC236}">
                <a16:creationId xmlns:a16="http://schemas.microsoft.com/office/drawing/2014/main" id="{75EE118E-63F8-3E6C-DD6B-FBFAF11040CE}"/>
              </a:ext>
            </a:extLst>
          </p:cNvPr>
          <p:cNvSpPr>
            <a:spLocks noGrp="1"/>
          </p:cNvSpPr>
          <p:nvPr/>
        </p:nvSpPr>
        <p:spPr>
          <a:xfrm>
            <a:off x="351504" y="3610765"/>
            <a:ext cx="2112126" cy="409575"/>
          </a:xfrm>
          <a:prstGeom prst="roundRect">
            <a:avLst>
              <a:gd name="adj" fmla="val 20930"/>
            </a:avLst>
          </a:prstGeom>
          <a:solidFill>
            <a:srgbClr val="FDE9E7"/>
          </a:solidFill>
          <a:ln w="0">
            <a:noFill/>
          </a:ln>
        </p:spPr>
        <p:txBody>
          <a:bodyPr/>
          <a:lstStyle/>
          <a:p>
            <a:endParaRPr lang="en-US"/>
          </a:p>
        </p:txBody>
      </p:sp>
      <p:sp>
        <p:nvSpPr>
          <p:cNvPr id="29" name="shape-11">
            <a:extLst>
              <a:ext uri="{FF2B5EF4-FFF2-40B4-BE49-F238E27FC236}">
                <a16:creationId xmlns:a16="http://schemas.microsoft.com/office/drawing/2014/main" id="{4A431D37-48BA-9478-6A1D-135CB659ADC1}"/>
              </a:ext>
            </a:extLst>
          </p:cNvPr>
          <p:cNvSpPr>
            <a:spLocks noGrp="1"/>
          </p:cNvSpPr>
          <p:nvPr/>
        </p:nvSpPr>
        <p:spPr>
          <a:xfrm>
            <a:off x="375317" y="3610765"/>
            <a:ext cx="1609725" cy="409575"/>
          </a:xfrm>
          <a:prstGeom prst="rect">
            <a:avLst/>
          </a:prstGeom>
          <a:noFill/>
          <a:ln w="0">
            <a:noFill/>
          </a:ln>
        </p:spPr>
        <p:txBody>
          <a:bodyPr lIns="0" tIns="0" rIns="0" bIns="0" anchor="ctr">
            <a:noAutofit/>
          </a:bodyPr>
          <a:lstStyle/>
          <a:p>
            <a:pPr algn="ctr">
              <a:defRPr sz="1500" b="1">
                <a:solidFill>
                  <a:srgbClr val="D32F27"/>
                </a:solidFill>
                <a:latin typeface="DejaVu Sans"/>
                <a:ea typeface="DejaVu Sans"/>
                <a:cs typeface="DejaVu Sans"/>
              </a:defRPr>
            </a:pPr>
            <a:r>
              <a:rPr sz="1500" b="1">
                <a:solidFill>
                  <a:srgbClr val="D32F27"/>
                </a:solidFill>
                <a:latin typeface="DejaVu Sans"/>
                <a:ea typeface="DejaVu Sans"/>
                <a:cs typeface="DejaVu Sans"/>
              </a:rPr>
              <a:t>36 hrs / month</a:t>
            </a:r>
          </a:p>
        </p:txBody>
      </p:sp>
      <p:pic>
        <p:nvPicPr>
          <p:cNvPr id="30" name="Picture 29">
            <a:extLst>
              <a:ext uri="{FF2B5EF4-FFF2-40B4-BE49-F238E27FC236}">
                <a16:creationId xmlns:a16="http://schemas.microsoft.com/office/drawing/2014/main" id="{218F6D72-917E-C496-520B-E517BA7AD7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65357" y="2407525"/>
            <a:ext cx="507832" cy="507832"/>
          </a:xfrm>
          <a:prstGeom prst="rect">
            <a:avLst/>
          </a:prstGeom>
        </p:spPr>
      </p:pic>
      <p:pic>
        <p:nvPicPr>
          <p:cNvPr id="31" name="Picture 30">
            <a:extLst>
              <a:ext uri="{FF2B5EF4-FFF2-40B4-BE49-F238E27FC236}">
                <a16:creationId xmlns:a16="http://schemas.microsoft.com/office/drawing/2014/main" id="{C55826B3-C2C9-1A1B-8DB7-C9B63B6C3CF0}"/>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52506" y="4151002"/>
            <a:ext cx="616638" cy="616638"/>
          </a:xfrm>
          <a:prstGeom prst="rect">
            <a:avLst/>
          </a:prstGeom>
        </p:spPr>
      </p:pic>
      <p:pic>
        <p:nvPicPr>
          <p:cNvPr id="32" name="Picture 31">
            <a:extLst>
              <a:ext uri="{FF2B5EF4-FFF2-40B4-BE49-F238E27FC236}">
                <a16:creationId xmlns:a16="http://schemas.microsoft.com/office/drawing/2014/main" id="{BE0E4105-F1E5-3CBB-3A27-174A1354B2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287681" y="4151002"/>
            <a:ext cx="616638" cy="616638"/>
          </a:xfrm>
          <a:prstGeom prst="rect">
            <a:avLst/>
          </a:prstGeom>
        </p:spPr>
      </p:pic>
      <p:pic>
        <p:nvPicPr>
          <p:cNvPr id="33" name="Picture 32">
            <a:extLst>
              <a:ext uri="{FF2B5EF4-FFF2-40B4-BE49-F238E27FC236}">
                <a16:creationId xmlns:a16="http://schemas.microsoft.com/office/drawing/2014/main" id="{3218A80F-BA2A-DEC2-D35C-84705DE5445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63316" y="4151002"/>
            <a:ext cx="616638" cy="616638"/>
          </a:xfrm>
          <a:prstGeom prst="rect">
            <a:avLst/>
          </a:prstGeom>
        </p:spPr>
      </p:pic>
      <p:pic>
        <p:nvPicPr>
          <p:cNvPr id="34" name="Picture 33">
            <a:extLst>
              <a:ext uri="{FF2B5EF4-FFF2-40B4-BE49-F238E27FC236}">
                <a16:creationId xmlns:a16="http://schemas.microsoft.com/office/drawing/2014/main" id="{55B6A686-9941-CC4C-2F0D-2A0E71C68157}"/>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51509" y="2398742"/>
            <a:ext cx="507832" cy="507832"/>
          </a:xfrm>
          <a:prstGeom prst="rect">
            <a:avLst/>
          </a:prstGeom>
        </p:spPr>
      </p:pic>
      <p:pic>
        <p:nvPicPr>
          <p:cNvPr id="35" name="Picture 34">
            <a:extLst>
              <a:ext uri="{FF2B5EF4-FFF2-40B4-BE49-F238E27FC236}">
                <a16:creationId xmlns:a16="http://schemas.microsoft.com/office/drawing/2014/main" id="{F881B933-5DA7-46E9-41AA-13B65A49B84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75655" y="3648514"/>
            <a:ext cx="354396" cy="354396"/>
          </a:xfrm>
          <a:prstGeom prst="rect">
            <a:avLst/>
          </a:prstGeom>
        </p:spPr>
      </p:pic>
      <p:pic>
        <p:nvPicPr>
          <p:cNvPr id="36" name="Picture 35">
            <a:extLst>
              <a:ext uri="{FF2B5EF4-FFF2-40B4-BE49-F238E27FC236}">
                <a16:creationId xmlns:a16="http://schemas.microsoft.com/office/drawing/2014/main" id="{0B8B2CD6-7E9B-19CA-AB13-8C84A72A14F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41832" y="4628354"/>
            <a:ext cx="768130" cy="768130"/>
          </a:xfrm>
          <a:prstGeom prst="rect">
            <a:avLst/>
          </a:prstGeom>
        </p:spPr>
      </p:pic>
      <p:pic>
        <p:nvPicPr>
          <p:cNvPr id="37" name="Picture 36">
            <a:extLst>
              <a:ext uri="{FF2B5EF4-FFF2-40B4-BE49-F238E27FC236}">
                <a16:creationId xmlns:a16="http://schemas.microsoft.com/office/drawing/2014/main" id="{03CD19DF-2D29-9323-5937-234280BA336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13726" y="4800660"/>
            <a:ext cx="437779" cy="437779"/>
          </a:xfrm>
          <a:prstGeom prst="rect">
            <a:avLst/>
          </a:prstGeom>
        </p:spPr>
      </p:pic>
      <p:sp>
        <p:nvSpPr>
          <p:cNvPr id="38" name="TextBox 37">
            <a:extLst>
              <a:ext uri="{FF2B5EF4-FFF2-40B4-BE49-F238E27FC236}">
                <a16:creationId xmlns:a16="http://schemas.microsoft.com/office/drawing/2014/main" id="{CEC91EA3-C04D-46B5-5A50-78741BE48943}"/>
              </a:ext>
            </a:extLst>
          </p:cNvPr>
          <p:cNvSpPr txBox="1"/>
          <p:nvPr/>
        </p:nvSpPr>
        <p:spPr>
          <a:xfrm>
            <a:off x="1045749" y="4229042"/>
            <a:ext cx="2796541" cy="507831"/>
          </a:xfrm>
          <a:prstGeom prst="rect">
            <a:avLst/>
          </a:prstGeom>
          <a:noFill/>
        </p:spPr>
        <p:txBody>
          <a:bodyPr wrap="square" rtlCol="0">
            <a:spAutoFit/>
          </a:bodyPr>
          <a:lstStyle/>
          <a:p>
            <a:r>
              <a:rPr lang="en-US" sz="1600" b="1">
                <a:solidFill>
                  <a:srgbClr val="002060"/>
                </a:solidFill>
              </a:rPr>
              <a:t>Data Entry</a:t>
            </a:r>
          </a:p>
          <a:p>
            <a:r>
              <a:rPr lang="en-US" sz="1100">
                <a:solidFill>
                  <a:srgbClr val="002060"/>
                </a:solidFill>
              </a:rPr>
              <a:t>Staff process data in Excel</a:t>
            </a:r>
          </a:p>
        </p:txBody>
      </p:sp>
      <p:pic>
        <p:nvPicPr>
          <p:cNvPr id="39" name="Picture 38">
            <a:extLst>
              <a:ext uri="{FF2B5EF4-FFF2-40B4-BE49-F238E27FC236}">
                <a16:creationId xmlns:a16="http://schemas.microsoft.com/office/drawing/2014/main" id="{85C719C2-DF58-C54A-A9F9-EA173DFCA1F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539589" y="4628353"/>
            <a:ext cx="898045" cy="898045"/>
          </a:xfrm>
          <a:prstGeom prst="rect">
            <a:avLst/>
          </a:prstGeom>
        </p:spPr>
      </p:pic>
      <p:pic>
        <p:nvPicPr>
          <p:cNvPr id="40" name="Picture 39">
            <a:extLst>
              <a:ext uri="{FF2B5EF4-FFF2-40B4-BE49-F238E27FC236}">
                <a16:creationId xmlns:a16="http://schemas.microsoft.com/office/drawing/2014/main" id="{4DBA117D-7E95-0393-DC49-DAD7714B26C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435405" y="4628353"/>
            <a:ext cx="898045" cy="898045"/>
          </a:xfrm>
          <a:prstGeom prst="rect">
            <a:avLst/>
          </a:prstGeom>
        </p:spPr>
      </p:pic>
      <p:sp>
        <p:nvSpPr>
          <p:cNvPr id="41" name="TextBox 40">
            <a:extLst>
              <a:ext uri="{FF2B5EF4-FFF2-40B4-BE49-F238E27FC236}">
                <a16:creationId xmlns:a16="http://schemas.microsoft.com/office/drawing/2014/main" id="{18B3BEC2-1158-5687-E35B-7E6E4CBAD54C}"/>
              </a:ext>
            </a:extLst>
          </p:cNvPr>
          <p:cNvSpPr txBox="1"/>
          <p:nvPr/>
        </p:nvSpPr>
        <p:spPr>
          <a:xfrm>
            <a:off x="4936475" y="4299574"/>
            <a:ext cx="2796541" cy="507831"/>
          </a:xfrm>
          <a:prstGeom prst="rect">
            <a:avLst/>
          </a:prstGeom>
          <a:noFill/>
        </p:spPr>
        <p:txBody>
          <a:bodyPr wrap="square" rtlCol="0">
            <a:spAutoFit/>
          </a:bodyPr>
          <a:lstStyle/>
          <a:p>
            <a:r>
              <a:rPr lang="en-US" sz="1600" b="1">
                <a:solidFill>
                  <a:srgbClr val="002060"/>
                </a:solidFill>
              </a:rPr>
              <a:t>Data Entry</a:t>
            </a:r>
          </a:p>
          <a:p>
            <a:r>
              <a:rPr lang="en-US" sz="1100">
                <a:solidFill>
                  <a:srgbClr val="002060"/>
                </a:solidFill>
              </a:rPr>
              <a:t>Staff process data via a desktop tool</a:t>
            </a:r>
          </a:p>
        </p:txBody>
      </p:sp>
      <p:sp>
        <p:nvSpPr>
          <p:cNvPr id="42" name="TextBox 41">
            <a:extLst>
              <a:ext uri="{FF2B5EF4-FFF2-40B4-BE49-F238E27FC236}">
                <a16:creationId xmlns:a16="http://schemas.microsoft.com/office/drawing/2014/main" id="{18A6489C-0E8F-2F95-848C-4EBB7BBE6876}"/>
              </a:ext>
            </a:extLst>
          </p:cNvPr>
          <p:cNvSpPr txBox="1"/>
          <p:nvPr/>
        </p:nvSpPr>
        <p:spPr>
          <a:xfrm>
            <a:off x="8978890" y="4281962"/>
            <a:ext cx="3061694" cy="507831"/>
          </a:xfrm>
          <a:prstGeom prst="rect">
            <a:avLst/>
          </a:prstGeom>
          <a:noFill/>
        </p:spPr>
        <p:txBody>
          <a:bodyPr wrap="square" rtlCol="0">
            <a:spAutoFit/>
          </a:bodyPr>
          <a:lstStyle/>
          <a:p>
            <a:r>
              <a:rPr lang="en-US" sz="1600" b="1">
                <a:solidFill>
                  <a:srgbClr val="002060"/>
                </a:solidFill>
              </a:rPr>
              <a:t>Data Entry</a:t>
            </a:r>
          </a:p>
          <a:p>
            <a:r>
              <a:rPr lang="en-US" sz="1100">
                <a:solidFill>
                  <a:srgbClr val="002060"/>
                </a:solidFill>
              </a:rPr>
              <a:t>Staff receive on-site data via email</a:t>
            </a:r>
          </a:p>
        </p:txBody>
      </p:sp>
      <p:sp>
        <p:nvSpPr>
          <p:cNvPr id="43" name="shape-10">
            <a:extLst>
              <a:ext uri="{FF2B5EF4-FFF2-40B4-BE49-F238E27FC236}">
                <a16:creationId xmlns:a16="http://schemas.microsoft.com/office/drawing/2014/main" id="{99566949-37A0-263B-A1D9-2A651DBCE6C8}"/>
              </a:ext>
            </a:extLst>
          </p:cNvPr>
          <p:cNvSpPr>
            <a:spLocks noGrp="1"/>
          </p:cNvSpPr>
          <p:nvPr/>
        </p:nvSpPr>
        <p:spPr>
          <a:xfrm>
            <a:off x="373367" y="5417124"/>
            <a:ext cx="2056684" cy="409575"/>
          </a:xfrm>
          <a:prstGeom prst="roundRect">
            <a:avLst>
              <a:gd name="adj" fmla="val 20930"/>
            </a:avLst>
          </a:prstGeom>
          <a:solidFill>
            <a:srgbClr val="FDE9E7"/>
          </a:solidFill>
          <a:ln w="0">
            <a:noFill/>
          </a:ln>
        </p:spPr>
        <p:txBody>
          <a:bodyPr/>
          <a:lstStyle/>
          <a:p>
            <a:endParaRPr lang="en-US"/>
          </a:p>
        </p:txBody>
      </p:sp>
      <p:sp>
        <p:nvSpPr>
          <p:cNvPr id="44" name="shape-11">
            <a:extLst>
              <a:ext uri="{FF2B5EF4-FFF2-40B4-BE49-F238E27FC236}">
                <a16:creationId xmlns:a16="http://schemas.microsoft.com/office/drawing/2014/main" id="{99B5D865-9AE2-76D0-48AC-0096472902AE}"/>
              </a:ext>
            </a:extLst>
          </p:cNvPr>
          <p:cNvSpPr>
            <a:spLocks noGrp="1"/>
          </p:cNvSpPr>
          <p:nvPr/>
        </p:nvSpPr>
        <p:spPr>
          <a:xfrm>
            <a:off x="397180" y="5417124"/>
            <a:ext cx="1609725" cy="409575"/>
          </a:xfrm>
          <a:prstGeom prst="rect">
            <a:avLst/>
          </a:prstGeom>
          <a:noFill/>
          <a:ln w="0">
            <a:noFill/>
          </a:ln>
        </p:spPr>
        <p:txBody>
          <a:bodyPr lIns="0" tIns="0" rIns="0" bIns="0" anchor="ctr">
            <a:noAutofit/>
          </a:bodyPr>
          <a:lstStyle/>
          <a:p>
            <a:pPr algn="ctr">
              <a:defRPr sz="1500" b="1">
                <a:solidFill>
                  <a:srgbClr val="D32F27"/>
                </a:solidFill>
                <a:latin typeface="DejaVu Sans"/>
                <a:ea typeface="DejaVu Sans"/>
                <a:cs typeface="DejaVu Sans"/>
              </a:defRPr>
            </a:pPr>
            <a:r>
              <a:rPr lang="en-US" sz="1500" b="1">
                <a:solidFill>
                  <a:srgbClr val="D32F27"/>
                </a:solidFill>
                <a:latin typeface="DejaVu Sans"/>
                <a:ea typeface="DejaVu Sans"/>
                <a:cs typeface="DejaVu Sans"/>
              </a:rPr>
              <a:t>72</a:t>
            </a:r>
            <a:r>
              <a:rPr sz="1500" b="1">
                <a:solidFill>
                  <a:srgbClr val="D32F27"/>
                </a:solidFill>
                <a:latin typeface="DejaVu Sans"/>
                <a:ea typeface="DejaVu Sans"/>
                <a:cs typeface="DejaVu Sans"/>
              </a:rPr>
              <a:t> hrs / month</a:t>
            </a:r>
          </a:p>
        </p:txBody>
      </p:sp>
      <p:pic>
        <p:nvPicPr>
          <p:cNvPr id="45" name="Picture 44">
            <a:extLst>
              <a:ext uri="{FF2B5EF4-FFF2-40B4-BE49-F238E27FC236}">
                <a16:creationId xmlns:a16="http://schemas.microsoft.com/office/drawing/2014/main" id="{28C7D103-D4A3-9967-8A60-774A48AC884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06905" y="5453859"/>
            <a:ext cx="354396" cy="354396"/>
          </a:xfrm>
          <a:prstGeom prst="rect">
            <a:avLst/>
          </a:prstGeom>
        </p:spPr>
      </p:pic>
      <p:pic>
        <p:nvPicPr>
          <p:cNvPr id="46" name="Picture 45">
            <a:extLst>
              <a:ext uri="{FF2B5EF4-FFF2-40B4-BE49-F238E27FC236}">
                <a16:creationId xmlns:a16="http://schemas.microsoft.com/office/drawing/2014/main" id="{CB032E11-FF22-E9E6-DE8F-578F1569584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838338" y="4746036"/>
            <a:ext cx="674331" cy="674331"/>
          </a:xfrm>
          <a:prstGeom prst="rect">
            <a:avLst/>
          </a:prstGeom>
        </p:spPr>
      </p:pic>
      <p:sp>
        <p:nvSpPr>
          <p:cNvPr id="47" name="TextBox 46">
            <a:extLst>
              <a:ext uri="{FF2B5EF4-FFF2-40B4-BE49-F238E27FC236}">
                <a16:creationId xmlns:a16="http://schemas.microsoft.com/office/drawing/2014/main" id="{1A10EB1D-B48A-8689-1280-9CF8F19491C7}"/>
              </a:ext>
            </a:extLst>
          </p:cNvPr>
          <p:cNvSpPr txBox="1"/>
          <p:nvPr/>
        </p:nvSpPr>
        <p:spPr>
          <a:xfrm>
            <a:off x="9889918" y="4783476"/>
            <a:ext cx="589775" cy="646331"/>
          </a:xfrm>
          <a:prstGeom prst="rect">
            <a:avLst/>
          </a:prstGeom>
          <a:noFill/>
        </p:spPr>
        <p:txBody>
          <a:bodyPr wrap="square" rtlCol="0">
            <a:spAutoFit/>
          </a:bodyPr>
          <a:lstStyle/>
          <a:p>
            <a:r>
              <a:rPr lang="en-US" sz="3600" b="1"/>
              <a:t>+</a:t>
            </a:r>
          </a:p>
        </p:txBody>
      </p:sp>
      <p:sp>
        <p:nvSpPr>
          <p:cNvPr id="48" name="TextBox 47">
            <a:extLst>
              <a:ext uri="{FF2B5EF4-FFF2-40B4-BE49-F238E27FC236}">
                <a16:creationId xmlns:a16="http://schemas.microsoft.com/office/drawing/2014/main" id="{10854CD4-5C38-1FCF-06A9-E4FFD45B17EE}"/>
              </a:ext>
            </a:extLst>
          </p:cNvPr>
          <p:cNvSpPr txBox="1"/>
          <p:nvPr/>
        </p:nvSpPr>
        <p:spPr>
          <a:xfrm>
            <a:off x="1674481" y="4696385"/>
            <a:ext cx="589775" cy="646331"/>
          </a:xfrm>
          <a:prstGeom prst="rect">
            <a:avLst/>
          </a:prstGeom>
          <a:noFill/>
        </p:spPr>
        <p:txBody>
          <a:bodyPr wrap="square" rtlCol="0">
            <a:spAutoFit/>
          </a:bodyPr>
          <a:lstStyle/>
          <a:p>
            <a:r>
              <a:rPr lang="en-US" sz="3600" b="1"/>
              <a:t>+</a:t>
            </a:r>
          </a:p>
        </p:txBody>
      </p:sp>
      <p:pic>
        <p:nvPicPr>
          <p:cNvPr id="49" name="Picture 48">
            <a:extLst>
              <a:ext uri="{FF2B5EF4-FFF2-40B4-BE49-F238E27FC236}">
                <a16:creationId xmlns:a16="http://schemas.microsoft.com/office/drawing/2014/main" id="{781ED18E-7F3B-7565-C6EF-1A02C5C25DC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669479" y="4746036"/>
            <a:ext cx="749755" cy="749755"/>
          </a:xfrm>
          <a:prstGeom prst="rect">
            <a:avLst/>
          </a:prstGeom>
        </p:spPr>
      </p:pic>
      <p:sp>
        <p:nvSpPr>
          <p:cNvPr id="50" name="TextBox 49">
            <a:extLst>
              <a:ext uri="{FF2B5EF4-FFF2-40B4-BE49-F238E27FC236}">
                <a16:creationId xmlns:a16="http://schemas.microsoft.com/office/drawing/2014/main" id="{7FFBE24D-1E74-299C-2936-737F1044D1B6}"/>
              </a:ext>
            </a:extLst>
          </p:cNvPr>
          <p:cNvSpPr txBox="1"/>
          <p:nvPr/>
        </p:nvSpPr>
        <p:spPr>
          <a:xfrm>
            <a:off x="5773149" y="4803979"/>
            <a:ext cx="589775" cy="646331"/>
          </a:xfrm>
          <a:prstGeom prst="rect">
            <a:avLst/>
          </a:prstGeom>
          <a:noFill/>
        </p:spPr>
        <p:txBody>
          <a:bodyPr wrap="square" rtlCol="0">
            <a:spAutoFit/>
          </a:bodyPr>
          <a:lstStyle/>
          <a:p>
            <a:r>
              <a:rPr lang="en-US" sz="3600" b="1"/>
              <a:t>+</a:t>
            </a:r>
          </a:p>
        </p:txBody>
      </p:sp>
      <p:cxnSp>
        <p:nvCxnSpPr>
          <p:cNvPr id="51" name="Straight Connector 50">
            <a:extLst>
              <a:ext uri="{FF2B5EF4-FFF2-40B4-BE49-F238E27FC236}">
                <a16:creationId xmlns:a16="http://schemas.microsoft.com/office/drawing/2014/main" id="{95263F68-B8CD-7BD8-0031-A8550EF6DAFC}"/>
              </a:ext>
            </a:extLst>
          </p:cNvPr>
          <p:cNvCxnSpPr>
            <a:cxnSpLocks/>
          </p:cNvCxnSpPr>
          <p:nvPr/>
        </p:nvCxnSpPr>
        <p:spPr>
          <a:xfrm>
            <a:off x="397180" y="4789793"/>
            <a:ext cx="3387295" cy="0"/>
          </a:xfrm>
          <a:prstGeom prst="line">
            <a:avLst/>
          </a:prstGeom>
          <a:ln w="635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B18607C5-019E-38AC-78FD-8D5C8D7D1BEE}"/>
              </a:ext>
            </a:extLst>
          </p:cNvPr>
          <p:cNvCxnSpPr>
            <a:cxnSpLocks/>
          </p:cNvCxnSpPr>
          <p:nvPr/>
        </p:nvCxnSpPr>
        <p:spPr>
          <a:xfrm>
            <a:off x="4307139" y="4789793"/>
            <a:ext cx="3387295" cy="0"/>
          </a:xfrm>
          <a:prstGeom prst="line">
            <a:avLst/>
          </a:prstGeom>
          <a:ln w="635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EA37846-C8BF-8603-BA27-14990518A49D}"/>
              </a:ext>
            </a:extLst>
          </p:cNvPr>
          <p:cNvCxnSpPr>
            <a:cxnSpLocks/>
          </p:cNvCxnSpPr>
          <p:nvPr/>
        </p:nvCxnSpPr>
        <p:spPr>
          <a:xfrm>
            <a:off x="8351509" y="4789793"/>
            <a:ext cx="3387295" cy="0"/>
          </a:xfrm>
          <a:prstGeom prst="line">
            <a:avLst/>
          </a:prstGeom>
          <a:ln w="635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73F3FDD-62EB-D870-37E0-A41C1C8BA8F9}"/>
              </a:ext>
            </a:extLst>
          </p:cNvPr>
          <p:cNvCxnSpPr>
            <a:cxnSpLocks/>
          </p:cNvCxnSpPr>
          <p:nvPr/>
        </p:nvCxnSpPr>
        <p:spPr>
          <a:xfrm>
            <a:off x="397180" y="2934677"/>
            <a:ext cx="3387295" cy="0"/>
          </a:xfrm>
          <a:prstGeom prst="line">
            <a:avLst/>
          </a:prstGeom>
          <a:ln w="635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2D724AFE-9515-76D4-CEAA-4D342CD55523}"/>
              </a:ext>
            </a:extLst>
          </p:cNvPr>
          <p:cNvCxnSpPr>
            <a:cxnSpLocks/>
          </p:cNvCxnSpPr>
          <p:nvPr/>
        </p:nvCxnSpPr>
        <p:spPr>
          <a:xfrm>
            <a:off x="4307139" y="2934677"/>
            <a:ext cx="3387295" cy="0"/>
          </a:xfrm>
          <a:prstGeom prst="line">
            <a:avLst/>
          </a:prstGeom>
          <a:ln w="635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66F52DE1-BC02-9D95-C454-17DB0E7AE640}"/>
              </a:ext>
            </a:extLst>
          </p:cNvPr>
          <p:cNvCxnSpPr>
            <a:cxnSpLocks/>
          </p:cNvCxnSpPr>
          <p:nvPr/>
        </p:nvCxnSpPr>
        <p:spPr>
          <a:xfrm>
            <a:off x="8351509" y="2934677"/>
            <a:ext cx="3387295" cy="0"/>
          </a:xfrm>
          <a:prstGeom prst="line">
            <a:avLst/>
          </a:prstGeom>
          <a:ln w="635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7" name="TextBox 56">
            <a:extLst>
              <a:ext uri="{FF2B5EF4-FFF2-40B4-BE49-F238E27FC236}">
                <a16:creationId xmlns:a16="http://schemas.microsoft.com/office/drawing/2014/main" id="{27F083E6-77E9-261C-F7FA-A089F14D68A3}"/>
              </a:ext>
            </a:extLst>
          </p:cNvPr>
          <p:cNvSpPr txBox="1"/>
          <p:nvPr/>
        </p:nvSpPr>
        <p:spPr>
          <a:xfrm>
            <a:off x="4285225" y="4996384"/>
            <a:ext cx="589775" cy="276999"/>
          </a:xfrm>
          <a:prstGeom prst="rect">
            <a:avLst/>
          </a:prstGeom>
          <a:noFill/>
        </p:spPr>
        <p:txBody>
          <a:bodyPr wrap="square" rtlCol="0">
            <a:spAutoFit/>
          </a:bodyPr>
          <a:lstStyle/>
          <a:p>
            <a:r>
              <a:rPr lang="en-US" sz="1200" b="1"/>
              <a:t>Tool</a:t>
            </a:r>
          </a:p>
        </p:txBody>
      </p:sp>
      <p:sp>
        <p:nvSpPr>
          <p:cNvPr id="58" name="TextBox 57">
            <a:extLst>
              <a:ext uri="{FF2B5EF4-FFF2-40B4-BE49-F238E27FC236}">
                <a16:creationId xmlns:a16="http://schemas.microsoft.com/office/drawing/2014/main" id="{19895A07-C895-462F-01CF-50D27CE4B9C7}"/>
              </a:ext>
            </a:extLst>
          </p:cNvPr>
          <p:cNvSpPr txBox="1"/>
          <p:nvPr/>
        </p:nvSpPr>
        <p:spPr>
          <a:xfrm>
            <a:off x="8132022" y="5040925"/>
            <a:ext cx="1113497" cy="230832"/>
          </a:xfrm>
          <a:prstGeom prst="rect">
            <a:avLst/>
          </a:prstGeom>
          <a:noFill/>
        </p:spPr>
        <p:txBody>
          <a:bodyPr wrap="square" rtlCol="0">
            <a:spAutoFit/>
          </a:bodyPr>
          <a:lstStyle/>
          <a:p>
            <a:r>
              <a:rPr lang="en-US" sz="900" b="1"/>
              <a:t>Email Inbox</a:t>
            </a:r>
          </a:p>
        </p:txBody>
      </p:sp>
      <p:sp>
        <p:nvSpPr>
          <p:cNvPr id="59" name="shape-10">
            <a:extLst>
              <a:ext uri="{FF2B5EF4-FFF2-40B4-BE49-F238E27FC236}">
                <a16:creationId xmlns:a16="http://schemas.microsoft.com/office/drawing/2014/main" id="{23EAB68A-0051-B261-9666-9C3BE2274852}"/>
              </a:ext>
            </a:extLst>
          </p:cNvPr>
          <p:cNvSpPr>
            <a:spLocks noGrp="1"/>
          </p:cNvSpPr>
          <p:nvPr/>
        </p:nvSpPr>
        <p:spPr>
          <a:xfrm>
            <a:off x="4297856" y="3610765"/>
            <a:ext cx="2053002" cy="409575"/>
          </a:xfrm>
          <a:prstGeom prst="roundRect">
            <a:avLst>
              <a:gd name="adj" fmla="val 20930"/>
            </a:avLst>
          </a:prstGeom>
          <a:solidFill>
            <a:srgbClr val="FDE9E7"/>
          </a:solidFill>
          <a:ln w="0">
            <a:noFill/>
          </a:ln>
        </p:spPr>
        <p:txBody>
          <a:bodyPr/>
          <a:lstStyle/>
          <a:p>
            <a:endParaRPr lang="en-US"/>
          </a:p>
        </p:txBody>
      </p:sp>
      <p:sp>
        <p:nvSpPr>
          <p:cNvPr id="60" name="shape-11">
            <a:extLst>
              <a:ext uri="{FF2B5EF4-FFF2-40B4-BE49-F238E27FC236}">
                <a16:creationId xmlns:a16="http://schemas.microsoft.com/office/drawing/2014/main" id="{CFD8AFB4-1E20-87B3-F014-E783E1D6B06A}"/>
              </a:ext>
            </a:extLst>
          </p:cNvPr>
          <p:cNvSpPr>
            <a:spLocks noGrp="1"/>
          </p:cNvSpPr>
          <p:nvPr/>
        </p:nvSpPr>
        <p:spPr>
          <a:xfrm>
            <a:off x="4321669" y="3610765"/>
            <a:ext cx="1609725" cy="409575"/>
          </a:xfrm>
          <a:prstGeom prst="rect">
            <a:avLst/>
          </a:prstGeom>
          <a:noFill/>
          <a:ln w="0">
            <a:noFill/>
          </a:ln>
        </p:spPr>
        <p:txBody>
          <a:bodyPr lIns="0" tIns="0" rIns="0" bIns="0" anchor="ctr">
            <a:noAutofit/>
          </a:bodyPr>
          <a:lstStyle/>
          <a:p>
            <a:pPr algn="ctr">
              <a:defRPr sz="1500" b="1">
                <a:solidFill>
                  <a:srgbClr val="D32F27"/>
                </a:solidFill>
                <a:latin typeface="DejaVu Sans"/>
                <a:ea typeface="DejaVu Sans"/>
                <a:cs typeface="DejaVu Sans"/>
              </a:defRPr>
            </a:pPr>
            <a:r>
              <a:rPr sz="1500" b="1">
                <a:solidFill>
                  <a:srgbClr val="D32F27"/>
                </a:solidFill>
                <a:latin typeface="DejaVu Sans"/>
                <a:ea typeface="DejaVu Sans"/>
                <a:cs typeface="DejaVu Sans"/>
              </a:rPr>
              <a:t>36 hrs / month</a:t>
            </a:r>
          </a:p>
        </p:txBody>
      </p:sp>
      <p:pic>
        <p:nvPicPr>
          <p:cNvPr id="61" name="Picture 60">
            <a:extLst>
              <a:ext uri="{FF2B5EF4-FFF2-40B4-BE49-F238E27FC236}">
                <a16:creationId xmlns:a16="http://schemas.microsoft.com/office/drawing/2014/main" id="{B55494FF-3CBC-8873-377E-CB0D637E84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63211" y="3648514"/>
            <a:ext cx="354396" cy="354396"/>
          </a:xfrm>
          <a:prstGeom prst="rect">
            <a:avLst/>
          </a:prstGeom>
        </p:spPr>
      </p:pic>
      <p:sp>
        <p:nvSpPr>
          <p:cNvPr id="62" name="shape-10">
            <a:extLst>
              <a:ext uri="{FF2B5EF4-FFF2-40B4-BE49-F238E27FC236}">
                <a16:creationId xmlns:a16="http://schemas.microsoft.com/office/drawing/2014/main" id="{D0D69F3E-C03D-08A3-67B5-5A89E549AEB2}"/>
              </a:ext>
            </a:extLst>
          </p:cNvPr>
          <p:cNvSpPr>
            <a:spLocks noGrp="1"/>
          </p:cNvSpPr>
          <p:nvPr/>
        </p:nvSpPr>
        <p:spPr>
          <a:xfrm>
            <a:off x="4319719" y="5417124"/>
            <a:ext cx="2043205" cy="409575"/>
          </a:xfrm>
          <a:prstGeom prst="roundRect">
            <a:avLst>
              <a:gd name="adj" fmla="val 20930"/>
            </a:avLst>
          </a:prstGeom>
          <a:solidFill>
            <a:srgbClr val="FDE9E7"/>
          </a:solidFill>
          <a:ln w="0">
            <a:noFill/>
          </a:ln>
        </p:spPr>
        <p:txBody>
          <a:bodyPr/>
          <a:lstStyle/>
          <a:p>
            <a:endParaRPr lang="en-US"/>
          </a:p>
        </p:txBody>
      </p:sp>
      <p:sp>
        <p:nvSpPr>
          <p:cNvPr id="63" name="shape-11">
            <a:extLst>
              <a:ext uri="{FF2B5EF4-FFF2-40B4-BE49-F238E27FC236}">
                <a16:creationId xmlns:a16="http://schemas.microsoft.com/office/drawing/2014/main" id="{051CF495-1CC9-A0C3-CABD-EA4A22CDB276}"/>
              </a:ext>
            </a:extLst>
          </p:cNvPr>
          <p:cNvSpPr>
            <a:spLocks noGrp="1"/>
          </p:cNvSpPr>
          <p:nvPr/>
        </p:nvSpPr>
        <p:spPr>
          <a:xfrm>
            <a:off x="4343532" y="5417124"/>
            <a:ext cx="1609725" cy="409575"/>
          </a:xfrm>
          <a:prstGeom prst="rect">
            <a:avLst/>
          </a:prstGeom>
          <a:noFill/>
          <a:ln w="0">
            <a:noFill/>
          </a:ln>
        </p:spPr>
        <p:txBody>
          <a:bodyPr lIns="0" tIns="0" rIns="0" bIns="0" anchor="ctr">
            <a:noAutofit/>
          </a:bodyPr>
          <a:lstStyle/>
          <a:p>
            <a:pPr algn="ctr">
              <a:defRPr sz="1500" b="1">
                <a:solidFill>
                  <a:srgbClr val="D32F27"/>
                </a:solidFill>
                <a:latin typeface="DejaVu Sans"/>
                <a:ea typeface="DejaVu Sans"/>
                <a:cs typeface="DejaVu Sans"/>
              </a:defRPr>
            </a:pPr>
            <a:r>
              <a:rPr lang="en-US" sz="1500" b="1">
                <a:solidFill>
                  <a:srgbClr val="D32F27"/>
                </a:solidFill>
                <a:latin typeface="DejaVu Sans"/>
                <a:ea typeface="DejaVu Sans"/>
                <a:cs typeface="DejaVu Sans"/>
              </a:rPr>
              <a:t>12</a:t>
            </a:r>
            <a:r>
              <a:rPr sz="1500" b="1">
                <a:solidFill>
                  <a:srgbClr val="D32F27"/>
                </a:solidFill>
                <a:latin typeface="DejaVu Sans"/>
                <a:ea typeface="DejaVu Sans"/>
                <a:cs typeface="DejaVu Sans"/>
              </a:rPr>
              <a:t> hrs / month</a:t>
            </a:r>
          </a:p>
        </p:txBody>
      </p:sp>
      <p:pic>
        <p:nvPicPr>
          <p:cNvPr id="64" name="Picture 63">
            <a:extLst>
              <a:ext uri="{FF2B5EF4-FFF2-40B4-BE49-F238E27FC236}">
                <a16:creationId xmlns:a16="http://schemas.microsoft.com/office/drawing/2014/main" id="{4D8E9F34-3D5D-8E94-8EF4-21A21D14CC9C}"/>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5996462" y="5453859"/>
            <a:ext cx="354396" cy="354396"/>
          </a:xfrm>
          <a:prstGeom prst="rect">
            <a:avLst/>
          </a:prstGeom>
        </p:spPr>
      </p:pic>
      <p:sp>
        <p:nvSpPr>
          <p:cNvPr id="65" name="shape-10">
            <a:extLst>
              <a:ext uri="{FF2B5EF4-FFF2-40B4-BE49-F238E27FC236}">
                <a16:creationId xmlns:a16="http://schemas.microsoft.com/office/drawing/2014/main" id="{5E0440D6-43A9-2A42-2E5E-9EAEAF5D628B}"/>
              </a:ext>
            </a:extLst>
          </p:cNvPr>
          <p:cNvSpPr>
            <a:spLocks noGrp="1"/>
          </p:cNvSpPr>
          <p:nvPr/>
        </p:nvSpPr>
        <p:spPr>
          <a:xfrm>
            <a:off x="8360325" y="3645665"/>
            <a:ext cx="2021954" cy="409575"/>
          </a:xfrm>
          <a:prstGeom prst="roundRect">
            <a:avLst>
              <a:gd name="adj" fmla="val 20930"/>
            </a:avLst>
          </a:prstGeom>
          <a:solidFill>
            <a:schemeClr val="accent3">
              <a:lumMod val="20000"/>
              <a:lumOff val="80000"/>
            </a:schemeClr>
          </a:solidFill>
          <a:ln w="0">
            <a:noFill/>
          </a:ln>
        </p:spPr>
        <p:txBody>
          <a:bodyPr/>
          <a:lstStyle/>
          <a:p>
            <a:endParaRPr lang="en-US"/>
          </a:p>
        </p:txBody>
      </p:sp>
      <p:sp>
        <p:nvSpPr>
          <p:cNvPr id="66" name="shape-11">
            <a:extLst>
              <a:ext uri="{FF2B5EF4-FFF2-40B4-BE49-F238E27FC236}">
                <a16:creationId xmlns:a16="http://schemas.microsoft.com/office/drawing/2014/main" id="{E5D2D198-7673-E9F2-D237-9504E21BF1AD}"/>
              </a:ext>
            </a:extLst>
          </p:cNvPr>
          <p:cNvSpPr>
            <a:spLocks noGrp="1"/>
          </p:cNvSpPr>
          <p:nvPr/>
        </p:nvSpPr>
        <p:spPr>
          <a:xfrm>
            <a:off x="8384138" y="3645665"/>
            <a:ext cx="1609725" cy="409575"/>
          </a:xfrm>
          <a:prstGeom prst="rect">
            <a:avLst/>
          </a:prstGeom>
          <a:noFill/>
          <a:ln w="0">
            <a:noFill/>
          </a:ln>
        </p:spPr>
        <p:txBody>
          <a:bodyPr lIns="0" tIns="0" rIns="0" bIns="0" anchor="ctr">
            <a:noAutofit/>
          </a:bodyPr>
          <a:lstStyle/>
          <a:p>
            <a:pPr algn="ctr">
              <a:defRPr sz="1500" b="1">
                <a:solidFill>
                  <a:srgbClr val="D32F27"/>
                </a:solidFill>
                <a:latin typeface="DejaVu Sans"/>
                <a:ea typeface="DejaVu Sans"/>
                <a:cs typeface="DejaVu Sans"/>
              </a:defRPr>
            </a:pPr>
            <a:r>
              <a:rPr lang="en-US" sz="1500" b="1">
                <a:solidFill>
                  <a:srgbClr val="1B7A3E"/>
                </a:solidFill>
                <a:latin typeface="DejaVu Sans"/>
                <a:ea typeface="DejaVu Sans"/>
                <a:cs typeface="DejaVu Sans"/>
              </a:rPr>
              <a:t>12</a:t>
            </a:r>
            <a:r>
              <a:rPr sz="1500" b="1">
                <a:solidFill>
                  <a:srgbClr val="1B7A3E"/>
                </a:solidFill>
                <a:latin typeface="DejaVu Sans"/>
                <a:ea typeface="DejaVu Sans"/>
                <a:cs typeface="DejaVu Sans"/>
              </a:rPr>
              <a:t> hrs / month</a:t>
            </a:r>
          </a:p>
        </p:txBody>
      </p:sp>
      <p:pic>
        <p:nvPicPr>
          <p:cNvPr id="67" name="Picture 66">
            <a:extLst>
              <a:ext uri="{FF2B5EF4-FFF2-40B4-BE49-F238E27FC236}">
                <a16:creationId xmlns:a16="http://schemas.microsoft.com/office/drawing/2014/main" id="{5796B058-3CBC-BC06-8788-8CA7CBD9C0AB}"/>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027883" y="3688208"/>
            <a:ext cx="354396" cy="354396"/>
          </a:xfrm>
          <a:prstGeom prst="rect">
            <a:avLst/>
          </a:prstGeom>
        </p:spPr>
      </p:pic>
      <p:sp>
        <p:nvSpPr>
          <p:cNvPr id="68" name="shape-10">
            <a:extLst>
              <a:ext uri="{FF2B5EF4-FFF2-40B4-BE49-F238E27FC236}">
                <a16:creationId xmlns:a16="http://schemas.microsoft.com/office/drawing/2014/main" id="{8B209006-390A-F1ED-AB2F-DE55E2310B46}"/>
              </a:ext>
            </a:extLst>
          </p:cNvPr>
          <p:cNvSpPr>
            <a:spLocks noGrp="1"/>
          </p:cNvSpPr>
          <p:nvPr/>
        </p:nvSpPr>
        <p:spPr>
          <a:xfrm>
            <a:off x="8382188" y="5383200"/>
            <a:ext cx="1999458" cy="409575"/>
          </a:xfrm>
          <a:prstGeom prst="roundRect">
            <a:avLst>
              <a:gd name="adj" fmla="val 20930"/>
            </a:avLst>
          </a:prstGeom>
          <a:solidFill>
            <a:schemeClr val="accent3">
              <a:lumMod val="20000"/>
              <a:lumOff val="80000"/>
            </a:schemeClr>
          </a:solidFill>
          <a:ln w="0">
            <a:noFill/>
          </a:ln>
        </p:spPr>
        <p:txBody>
          <a:bodyPr/>
          <a:lstStyle/>
          <a:p>
            <a:endParaRPr lang="en-US"/>
          </a:p>
        </p:txBody>
      </p:sp>
      <p:sp>
        <p:nvSpPr>
          <p:cNvPr id="69" name="shape-11">
            <a:extLst>
              <a:ext uri="{FF2B5EF4-FFF2-40B4-BE49-F238E27FC236}">
                <a16:creationId xmlns:a16="http://schemas.microsoft.com/office/drawing/2014/main" id="{1E153C9A-B404-F2D7-323A-D9DCA8336311}"/>
              </a:ext>
            </a:extLst>
          </p:cNvPr>
          <p:cNvSpPr>
            <a:spLocks noGrp="1"/>
          </p:cNvSpPr>
          <p:nvPr/>
        </p:nvSpPr>
        <p:spPr>
          <a:xfrm>
            <a:off x="8406001" y="5393032"/>
            <a:ext cx="1609725" cy="409575"/>
          </a:xfrm>
          <a:prstGeom prst="rect">
            <a:avLst/>
          </a:prstGeom>
          <a:noFill/>
          <a:ln w="0">
            <a:noFill/>
          </a:ln>
        </p:spPr>
        <p:txBody>
          <a:bodyPr lIns="0" tIns="0" rIns="0" bIns="0" anchor="ctr">
            <a:noAutofit/>
          </a:bodyPr>
          <a:lstStyle/>
          <a:p>
            <a:pPr algn="ctr">
              <a:defRPr sz="1500" b="1">
                <a:solidFill>
                  <a:srgbClr val="D32F27"/>
                </a:solidFill>
                <a:latin typeface="DejaVu Sans"/>
                <a:ea typeface="DejaVu Sans"/>
                <a:cs typeface="DejaVu Sans"/>
              </a:defRPr>
            </a:pPr>
            <a:r>
              <a:rPr lang="en-US" sz="1500" b="1">
                <a:solidFill>
                  <a:schemeClr val="accent3">
                    <a:lumMod val="75000"/>
                  </a:schemeClr>
                </a:solidFill>
                <a:latin typeface="DejaVu Sans"/>
                <a:ea typeface="DejaVu Sans"/>
                <a:cs typeface="DejaVu Sans"/>
              </a:rPr>
              <a:t>10</a:t>
            </a:r>
            <a:r>
              <a:rPr sz="1500" b="1">
                <a:solidFill>
                  <a:schemeClr val="accent3">
                    <a:lumMod val="75000"/>
                  </a:schemeClr>
                </a:solidFill>
                <a:latin typeface="DejaVu Sans"/>
                <a:ea typeface="DejaVu Sans"/>
                <a:cs typeface="DejaVu Sans"/>
              </a:rPr>
              <a:t> hrs / month</a:t>
            </a:r>
          </a:p>
        </p:txBody>
      </p:sp>
      <p:pic>
        <p:nvPicPr>
          <p:cNvPr id="70" name="Picture 69">
            <a:extLst>
              <a:ext uri="{FF2B5EF4-FFF2-40B4-BE49-F238E27FC236}">
                <a16:creationId xmlns:a16="http://schemas.microsoft.com/office/drawing/2014/main" id="{FFD37629-DAEA-25E2-A1EB-6508D109DC7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027250" y="5413311"/>
            <a:ext cx="354396" cy="354396"/>
          </a:xfrm>
          <a:prstGeom prst="rect">
            <a:avLst/>
          </a:prstGeom>
        </p:spPr>
      </p:pic>
      <p:cxnSp>
        <p:nvCxnSpPr>
          <p:cNvPr id="71" name="Straight Arrow Connector 70">
            <a:extLst>
              <a:ext uri="{FF2B5EF4-FFF2-40B4-BE49-F238E27FC236}">
                <a16:creationId xmlns:a16="http://schemas.microsoft.com/office/drawing/2014/main" id="{DC40E860-D616-128E-A195-0DA54D7EA815}"/>
              </a:ext>
            </a:extLst>
          </p:cNvPr>
          <p:cNvCxnSpPr/>
          <p:nvPr/>
        </p:nvCxnSpPr>
        <p:spPr>
          <a:xfrm>
            <a:off x="2906744" y="3851172"/>
            <a:ext cx="1239520" cy="0"/>
          </a:xfrm>
          <a:prstGeom prst="straightConnector1">
            <a:avLst/>
          </a:prstGeom>
          <a:ln w="41275">
            <a:solidFill>
              <a:srgbClr val="1469B9"/>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051011D9-100C-1302-16EB-043F94F15D8B}"/>
              </a:ext>
            </a:extLst>
          </p:cNvPr>
          <p:cNvCxnSpPr/>
          <p:nvPr/>
        </p:nvCxnSpPr>
        <p:spPr>
          <a:xfrm>
            <a:off x="6759013" y="3851172"/>
            <a:ext cx="1239520" cy="0"/>
          </a:xfrm>
          <a:prstGeom prst="straightConnector1">
            <a:avLst/>
          </a:prstGeom>
          <a:ln w="41275">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73" name="Straight Arrow Connector 72">
            <a:extLst>
              <a:ext uri="{FF2B5EF4-FFF2-40B4-BE49-F238E27FC236}">
                <a16:creationId xmlns:a16="http://schemas.microsoft.com/office/drawing/2014/main" id="{962120B5-9874-607F-CB90-517EB2561125}"/>
              </a:ext>
            </a:extLst>
          </p:cNvPr>
          <p:cNvCxnSpPr/>
          <p:nvPr/>
        </p:nvCxnSpPr>
        <p:spPr>
          <a:xfrm>
            <a:off x="2906744" y="5632071"/>
            <a:ext cx="1239520" cy="0"/>
          </a:xfrm>
          <a:prstGeom prst="straightConnector1">
            <a:avLst/>
          </a:prstGeom>
          <a:ln w="41275">
            <a:solidFill>
              <a:srgbClr val="1469B9"/>
            </a:solidFill>
            <a:tailEnd type="triangle"/>
          </a:ln>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561FE1EA-67E0-AD95-BF32-51E29F68D233}"/>
              </a:ext>
            </a:extLst>
          </p:cNvPr>
          <p:cNvCxnSpPr/>
          <p:nvPr/>
        </p:nvCxnSpPr>
        <p:spPr>
          <a:xfrm>
            <a:off x="6759013" y="5621911"/>
            <a:ext cx="1239520" cy="0"/>
          </a:xfrm>
          <a:prstGeom prst="straightConnector1">
            <a:avLst/>
          </a:prstGeom>
          <a:ln w="41275">
            <a:solidFill>
              <a:srgbClr val="00B050"/>
            </a:solidFill>
            <a:tailEnd type="triangle"/>
          </a:ln>
        </p:spPr>
        <p:style>
          <a:lnRef idx="2">
            <a:schemeClr val="accent1"/>
          </a:lnRef>
          <a:fillRef idx="0">
            <a:schemeClr val="accent1"/>
          </a:fillRef>
          <a:effectRef idx="1">
            <a:schemeClr val="accent1"/>
          </a:effectRef>
          <a:fontRef idx="minor">
            <a:schemeClr val="tx1"/>
          </a:fontRef>
        </p:style>
      </p:cxnSp>
      <p:pic>
        <p:nvPicPr>
          <p:cNvPr id="75" name="Picture 74">
            <a:extLst>
              <a:ext uri="{FF2B5EF4-FFF2-40B4-BE49-F238E27FC236}">
                <a16:creationId xmlns:a16="http://schemas.microsoft.com/office/drawing/2014/main" id="{D8E9AEB5-97A4-90C9-21B3-A14E413404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9118609" y="2989376"/>
            <a:ext cx="394060" cy="591091"/>
          </a:xfrm>
          <a:prstGeom prst="rect">
            <a:avLst/>
          </a:prstGeom>
        </p:spPr>
      </p:pic>
      <p:pic>
        <p:nvPicPr>
          <p:cNvPr id="76" name="Picture 75">
            <a:extLst>
              <a:ext uri="{FF2B5EF4-FFF2-40B4-BE49-F238E27FC236}">
                <a16:creationId xmlns:a16="http://schemas.microsoft.com/office/drawing/2014/main" id="{E5685842-D7ED-ECB0-C7E1-501FCC3F1440}"/>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656571" y="3040654"/>
            <a:ext cx="1332040" cy="444013"/>
          </a:xfrm>
          <a:prstGeom prst="rect">
            <a:avLst/>
          </a:prstGeom>
        </p:spPr>
      </p:pic>
      <p:pic>
        <p:nvPicPr>
          <p:cNvPr id="77" name="Picture 76">
            <a:extLst>
              <a:ext uri="{FF2B5EF4-FFF2-40B4-BE49-F238E27FC236}">
                <a16:creationId xmlns:a16="http://schemas.microsoft.com/office/drawing/2014/main" id="{A95701D6-73E0-A3A2-0590-6F426982C47E}"/>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4750596" y="2865460"/>
            <a:ext cx="829976" cy="664218"/>
          </a:xfrm>
          <a:prstGeom prst="rect">
            <a:avLst/>
          </a:prstGeom>
        </p:spPr>
      </p:pic>
      <p:pic>
        <p:nvPicPr>
          <p:cNvPr id="78" name="Picture 77">
            <a:extLst>
              <a:ext uri="{FF2B5EF4-FFF2-40B4-BE49-F238E27FC236}">
                <a16:creationId xmlns:a16="http://schemas.microsoft.com/office/drawing/2014/main" id="{FFD3C242-6D33-C99C-5ED0-265269962A42}"/>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713726" y="2856575"/>
            <a:ext cx="833327" cy="666900"/>
          </a:xfrm>
          <a:prstGeom prst="rect">
            <a:avLst/>
          </a:prstGeom>
        </p:spPr>
      </p:pic>
      <p:sp>
        <p:nvSpPr>
          <p:cNvPr id="79" name="shape-11">
            <a:extLst>
              <a:ext uri="{FF2B5EF4-FFF2-40B4-BE49-F238E27FC236}">
                <a16:creationId xmlns:a16="http://schemas.microsoft.com/office/drawing/2014/main" id="{FF4C56B9-4FFB-197A-E03B-0C59A0C06E0D}"/>
              </a:ext>
            </a:extLst>
          </p:cNvPr>
          <p:cNvSpPr>
            <a:spLocks noGrp="1"/>
          </p:cNvSpPr>
          <p:nvPr/>
        </p:nvSpPr>
        <p:spPr>
          <a:xfrm>
            <a:off x="7545340" y="806718"/>
            <a:ext cx="4366260" cy="409575"/>
          </a:xfrm>
          <a:prstGeom prst="rect">
            <a:avLst/>
          </a:prstGeom>
          <a:noFill/>
          <a:ln w="0">
            <a:noFill/>
          </a:ln>
        </p:spPr>
        <p:txBody>
          <a:bodyPr lIns="0" tIns="0" rIns="0" bIns="0" anchor="ctr">
            <a:noAutofit/>
          </a:bodyPr>
          <a:lstStyle/>
          <a:p>
            <a:pPr algn="ctr">
              <a:defRPr sz="1500" b="1">
                <a:solidFill>
                  <a:srgbClr val="D32F27"/>
                </a:solidFill>
                <a:latin typeface="DejaVu Sans"/>
                <a:ea typeface="DejaVu Sans"/>
                <a:cs typeface="DejaVu Sans"/>
              </a:defRPr>
            </a:pPr>
            <a:r>
              <a:rPr lang="en-US" sz="1500" b="1">
                <a:solidFill>
                  <a:srgbClr val="D32F27"/>
                </a:solidFill>
                <a:latin typeface="DejaVu Sans"/>
                <a:ea typeface="DejaVu Sans"/>
                <a:cs typeface="DejaVu Sans"/>
              </a:rPr>
              <a:t>130 slips / month </a:t>
            </a:r>
            <a:r>
              <a:rPr lang="en-US" sz="1500" b="1">
                <a:solidFill>
                  <a:srgbClr val="D32F27"/>
                </a:solidFill>
                <a:latin typeface="DejaVu Sans"/>
                <a:ea typeface="DejaVu Sans"/>
                <a:cs typeface="DejaVu Sans"/>
                <a:sym typeface="Wingdings" panose="05000000000000000000" pitchFamily="2" charset="2"/>
              </a:rPr>
              <a:t> 4,420 line items</a:t>
            </a:r>
            <a:endParaRPr sz="1500" b="1">
              <a:solidFill>
                <a:srgbClr val="D32F27"/>
              </a:solidFill>
              <a:latin typeface="DejaVu Sans"/>
              <a:ea typeface="DejaVu Sans"/>
              <a:cs typeface="DejaVu Sans"/>
            </a:endParaRPr>
          </a:p>
        </p:txBody>
      </p:sp>
      <p:pic>
        <p:nvPicPr>
          <p:cNvPr id="80" name="Picture 79">
            <a:extLst>
              <a:ext uri="{FF2B5EF4-FFF2-40B4-BE49-F238E27FC236}">
                <a16:creationId xmlns:a16="http://schemas.microsoft.com/office/drawing/2014/main" id="{D300E1F7-34E8-102E-A5BD-6496B9E22C53}"/>
              </a:ext>
            </a:extLst>
          </p:cNvPr>
          <p:cNvPicPr>
            <a:picLocks noChangeAspect="1"/>
          </p:cNvPicPr>
          <p:nvPr/>
        </p:nvPicPr>
        <p:blipFill>
          <a:blip r:embed="rId15"/>
          <a:stretch>
            <a:fillRect/>
          </a:stretch>
        </p:blipFill>
        <p:spPr>
          <a:xfrm>
            <a:off x="7316301" y="835217"/>
            <a:ext cx="341608" cy="341608"/>
          </a:xfrm>
          <a:prstGeom prst="rect">
            <a:avLst/>
          </a:prstGeom>
        </p:spPr>
      </p:pic>
      <p:sp>
        <p:nvSpPr>
          <p:cNvPr id="81" name="shape-1">
            <a:extLst>
              <a:ext uri="{FF2B5EF4-FFF2-40B4-BE49-F238E27FC236}">
                <a16:creationId xmlns:a16="http://schemas.microsoft.com/office/drawing/2014/main" id="{19D6834B-B5EF-FD92-FF40-00E0B32E3C7D}"/>
              </a:ext>
            </a:extLst>
          </p:cNvPr>
          <p:cNvSpPr>
            <a:spLocks noGrp="1"/>
          </p:cNvSpPr>
          <p:nvPr/>
        </p:nvSpPr>
        <p:spPr>
          <a:xfrm>
            <a:off x="2902291" y="67631"/>
            <a:ext cx="6675253" cy="638175"/>
          </a:xfrm>
          <a:prstGeom prst="rect">
            <a:avLst/>
          </a:prstGeom>
          <a:noFill/>
          <a:ln w="0">
            <a:noFill/>
          </a:ln>
        </p:spPr>
        <p:txBody>
          <a:bodyPr lIns="0" tIns="0" rIns="0" bIns="0" anchor="ctr">
            <a:noAutofit/>
          </a:bodyPr>
          <a:lstStyle/>
          <a:p>
            <a:pPr algn="l">
              <a:defRPr sz="3450" b="1">
                <a:solidFill>
                  <a:srgbClr val="173665"/>
                </a:solidFill>
                <a:latin typeface="DejaVu Sans"/>
                <a:ea typeface="DejaVu Sans"/>
                <a:cs typeface="DejaVu Sans"/>
              </a:defRPr>
            </a:pPr>
            <a:r>
              <a:rPr lang="en-US" sz="2400" b="1">
                <a:solidFill>
                  <a:schemeClr val="bg1"/>
                </a:solidFill>
                <a:latin typeface="Aptos" panose="020B0004020202020204" pitchFamily="34" charset="0"/>
                <a:ea typeface="DejaVu Sans"/>
                <a:cs typeface="DejaVu Sans"/>
              </a:rPr>
              <a:t>POWER APPS IMPLEMENTATION</a:t>
            </a:r>
            <a:endParaRPr sz="2400" b="1">
              <a:solidFill>
                <a:schemeClr val="bg1"/>
              </a:solidFill>
              <a:latin typeface="Aptos" panose="020B0004020202020204" pitchFamily="34" charset="0"/>
              <a:ea typeface="DejaVu Sans"/>
              <a:cs typeface="DejaVu Sans"/>
            </a:endParaRPr>
          </a:p>
        </p:txBody>
      </p:sp>
      <p:pic>
        <p:nvPicPr>
          <p:cNvPr id="82" name="Picture 81">
            <a:extLst>
              <a:ext uri="{FF2B5EF4-FFF2-40B4-BE49-F238E27FC236}">
                <a16:creationId xmlns:a16="http://schemas.microsoft.com/office/drawing/2014/main" id="{E25F6865-5B12-C3DC-44FD-5C4522E34888}"/>
              </a:ext>
            </a:extLst>
          </p:cNvPr>
          <p:cNvPicPr>
            <a:picLocks noChangeAspect="1"/>
          </p:cNvPicPr>
          <p:nvPr/>
        </p:nvPicPr>
        <p:blipFill>
          <a:blip r:embed="rId16"/>
          <a:stretch>
            <a:fillRect/>
          </a:stretch>
        </p:blipFill>
        <p:spPr>
          <a:xfrm>
            <a:off x="8692546" y="3156164"/>
            <a:ext cx="286344" cy="286344"/>
          </a:xfrm>
          <a:prstGeom prst="rect">
            <a:avLst/>
          </a:prstGeom>
        </p:spPr>
      </p:pic>
      <p:sp>
        <p:nvSpPr>
          <p:cNvPr id="101" name="Business Context"/>
          <p:cNvSpPr/>
          <p:nvPr/>
        </p:nvSpPr>
        <p:spPr>
          <a:xfrm>
            <a:off x="228600" y="1280160"/>
            <a:ext cx="11804904" cy="512064"/>
          </a:xfrm>
          <a:prstGeom prst="roundRect">
            <a:avLst>
              <a:gd name="adj" fmla="val 14000"/>
            </a:avLst>
          </a:prstGeom>
          <a:solidFill>
            <a:srgbClr val="EAF3FB"/>
          </a:solidFill>
          <a:ln w="0">
            <a:noFill/>
          </a:ln>
        </p:spPr>
        <p:txBody>
          <a:bodyPr wrap="square" lIns="109728" tIns="36576" rIns="109728" bIns="36576" anchor="ctr">
            <a:normAutofit/>
          </a:bodyPr>
          <a:lstStyle/>
          <a:p>
            <a:pPr algn="l"/>
            <a:r>
              <a:rPr lang="en-US" sz="1200" b="1" i="0" dirty="0">
                <a:solidFill>
                  <a:srgbClr val="173665"/>
                </a:solidFill>
              </a:rPr>
              <a:t xml:space="preserve">Business context: </a:t>
            </a:r>
            <a:r>
              <a:rPr lang="en-US" sz="1200" b="0" i="0" dirty="0">
                <a:solidFill>
                  <a:srgbClr val="002060"/>
                </a:solidFill>
              </a:rPr>
              <a:t xml:space="preserve">Every day, outbound orders at the B2C warehouse that cannot be fully loaded onto the scheduled trucks are left behind. These items must be recorded so that BINs can be created in SAP, allowing the goods to be put back into storage and reloaded on the next dispatch.</a:t>
            </a:r>
          </a:p>
        </p:txBody>
      </p:sp>
      <p:sp>
        <p:nvSpPr>
          <p:cNvPr id="102" name="Savings Total 1"/>
          <p:cNvSpPr/>
          <p:nvPr/>
        </p:nvSpPr>
        <p:spPr>
          <a:xfrm>
            <a:off x="228600" y="6053328"/>
            <a:ext cx="3639312" cy="640080"/>
          </a:xfrm>
          <a:prstGeom prst="roundRect">
            <a:avLst>
              <a:gd name="adj" fmla="val 12000"/>
            </a:avLst>
          </a:prstGeom>
          <a:solidFill>
            <a:srgbClr val="FFF4EC"/>
          </a:solidFill>
          <a:ln w="0">
            <a:noFill/>
          </a:ln>
        </p:spPr>
        <p:txBody>
          <a:bodyPr wrap="square" lIns="109728" tIns="36576" rIns="109728" bIns="36576" anchor="ctr">
            <a:normAutofit/>
          </a:bodyPr>
          <a:lstStyle/>
          <a:p>
            <a:pPr algn="ctr"/>
            <a:r>
              <a:rPr lang="en-US" sz="1600" b="1" i="0" dirty="0">
                <a:solidFill>
                  <a:srgbClr val="D32F27"/>
                </a:solidFill>
                <a:latin typeface="DejaVu Sans"/>
                <a:cs typeface="DejaVu Sans"/>
              </a:rPr>
              <a:t xml:space="preserve">Total: 108 hrs / month</a:t>
            </a:r>
          </a:p>
          <a:p>
            <a:pPr algn="ctr"/>
            <a:r>
              <a:rPr lang="en-US" sz="1100" b="0" i="0" dirty="0">
                <a:solidFill>
                  <a:srgbClr val="6B6B6B"/>
                </a:solidFill>
              </a:rPr>
              <a:t xml:space="preserve">Baseline</a:t>
            </a:r>
          </a:p>
        </p:txBody>
      </p:sp>
      <p:sp>
        <p:nvSpPr>
          <p:cNvPr id="103" name="Savings Total 2"/>
          <p:cNvSpPr/>
          <p:nvPr/>
        </p:nvSpPr>
        <p:spPr>
          <a:xfrm>
            <a:off x="4178808" y="6053328"/>
            <a:ext cx="3639312" cy="640080"/>
          </a:xfrm>
          <a:prstGeom prst="roundRect">
            <a:avLst>
              <a:gd name="adj" fmla="val 12000"/>
            </a:avLst>
          </a:prstGeom>
          <a:solidFill>
            <a:srgbClr val="EDF5FC"/>
          </a:solidFill>
          <a:ln w="0">
            <a:noFill/>
          </a:ln>
        </p:spPr>
        <p:txBody>
          <a:bodyPr wrap="square" lIns="109728" tIns="36576" rIns="109728" bIns="36576" anchor="ctr">
            <a:normAutofit/>
          </a:bodyPr>
          <a:lstStyle/>
          <a:p>
            <a:pPr algn="ctr"/>
            <a:r>
              <a:rPr lang="en-US" sz="1600" b="1" i="0" dirty="0">
                <a:solidFill>
                  <a:srgbClr val="1469B9"/>
                </a:solidFill>
                <a:latin typeface="DejaVu Sans"/>
                <a:cs typeface="DejaVu Sans"/>
              </a:rPr>
              <a:t xml:space="preserve">Total: 48 hrs / month</a:t>
            </a:r>
          </a:p>
          <a:p>
            <a:pPr algn="ctr"/>
            <a:r>
              <a:rPr lang="en-US" sz="1100" b="0" i="0" dirty="0">
                <a:solidFill>
                  <a:srgbClr val="1469B9"/>
                </a:solidFill>
              </a:rPr>
              <a:t xml:space="preserve">Saves 60 hrs / month vs. current (-55.6%)</a:t>
            </a:r>
          </a:p>
        </p:txBody>
      </p:sp>
      <p:sp>
        <p:nvSpPr>
          <p:cNvPr id="104" name="Savings Total 3"/>
          <p:cNvSpPr/>
          <p:nvPr/>
        </p:nvSpPr>
        <p:spPr>
          <a:xfrm>
            <a:off x="8055864" y="6053328"/>
            <a:ext cx="3977640" cy="640080"/>
          </a:xfrm>
          <a:prstGeom prst="roundRect">
            <a:avLst>
              <a:gd name="adj" fmla="val 12000"/>
            </a:avLst>
          </a:prstGeom>
          <a:solidFill>
            <a:srgbClr val="218447"/>
          </a:solidFill>
          <a:ln w="0">
            <a:noFill/>
          </a:ln>
        </p:spPr>
        <p:txBody>
          <a:bodyPr wrap="square" lIns="109728" tIns="36576" rIns="109728" bIns="36576" anchor="ctr">
            <a:normAutofit/>
          </a:bodyPr>
          <a:lstStyle/>
          <a:p>
            <a:pPr algn="ctr"/>
            <a:r>
              <a:rPr lang="en-US" sz="1700" b="1" i="0" dirty="0">
                <a:solidFill>
                  <a:srgbClr val="FFFFFF"/>
                </a:solidFill>
                <a:latin typeface="DejaVu Sans"/>
                <a:cs typeface="DejaVu Sans"/>
              </a:rPr>
              <a:t xml:space="preserve">86 hrs / month saved (-79.6%)</a:t>
            </a:r>
          </a:p>
          <a:p>
            <a:pPr algn="ctr"/>
            <a:r>
              <a:rPr lang="en-US" sz="1100" b="0" i="0" dirty="0">
                <a:solidFill>
                  <a:srgbClr val="FFFFFF"/>
                </a:solidFill>
              </a:rPr>
              <a:t xml:space="preserve">Total: 22 hrs / month  |  approx. 1,032 hrs / year</a:t>
            </a:r>
          </a:p>
        </p:txBody>
      </p:sp>
      <p:cxnSp>
        <p:nvCxnSpPr>
          <p:cNvPr id="105" name="Savings Arrow 1"/>
          <p:cNvCxnSpPr/>
          <p:nvPr/>
        </p:nvCxnSpPr>
        <p:spPr>
          <a:xfrm>
            <a:off x="3886200" y="6373368"/>
            <a:ext cx="274320" cy="0"/>
          </a:xfrm>
          <a:prstGeom prst="straightConnector1">
            <a:avLst/>
          </a:prstGeom>
          <a:ln w="41275">
            <a:solidFill>
              <a:srgbClr val="1469B9"/>
            </a:solidFill>
            <a:tailEnd type="triangle"/>
          </a:ln>
        </p:spPr>
      </p:cxnSp>
      <p:cxnSp>
        <p:nvCxnSpPr>
          <p:cNvPr id="106" name="Savings Arrow 2"/>
          <p:cNvCxnSpPr/>
          <p:nvPr/>
        </p:nvCxnSpPr>
        <p:spPr>
          <a:xfrm>
            <a:off x="7818120" y="6373368"/>
            <a:ext cx="219456" cy="0"/>
          </a:xfrm>
          <a:prstGeom prst="straightConnector1">
            <a:avLst/>
          </a:prstGeom>
          <a:ln w="41275">
            <a:solidFill>
              <a:srgbClr val="00B050"/>
            </a:solidFill>
            <a:tailEnd type="triangle"/>
          </a:ln>
        </p:spPr>
      </p:cxnSp>
    </p:spTree>
    <p:extLst>
      <p:ext uri="{BB962C8B-B14F-4D97-AF65-F5344CB8AC3E}">
        <p14:creationId xmlns:p14="http://schemas.microsoft.com/office/powerpoint/2010/main" val="12353232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126</Words>
  <Application>Microsoft Office PowerPoint</Application>
  <PresentationFormat>Widescreen</PresentationFormat>
  <Paragraphs>32</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DejaVu Sans</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Danh, Đoàn Văn</dc:creator>
  <cp:lastModifiedBy>Danh, Đoàn Văn</cp:lastModifiedBy>
  <cp:revision>1</cp:revision>
  <dcterms:created xsi:type="dcterms:W3CDTF">2026-10-08T04:35:59Z</dcterms:created>
  <dcterms:modified xsi:type="dcterms:W3CDTF">2026-10-08T04:36:38Z</dcterms:modified>
</cp:coreProperties>
</file>
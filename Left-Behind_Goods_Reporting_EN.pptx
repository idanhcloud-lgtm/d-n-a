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A5473-06A5-676D-F8B3-2F3ACC866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9EF83-A5DB-6719-09EB-D132A1C868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D9561-02FA-70A4-F562-939459CA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C9EA0-19F0-20CB-70D4-956B9B13B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7F374-D59B-17B5-681D-4EDEE3604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99488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F36C9-5252-3333-68E4-836557DF7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102D4-A74C-921E-9FD1-8A6788363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47C95-3A63-663B-7DE4-7B30439A3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CA61-CABA-21C9-E111-D6E47D604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B12B3-3899-3438-85C9-52FDB046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2397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1BA55-F286-E403-21AB-DA28D6B50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BD1F5-5767-1AE5-866F-0791D01C8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D13BD-B2F3-1C23-6C45-64A14F04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7CB61-EF46-E128-3793-D492A7D1B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8BBBE-6A3C-C76E-6FE6-75F715548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74203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13A1D-A5AB-D6C3-65B3-B5B19C400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A9653-8928-D384-6635-15A4089C5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CB641-3669-B3B3-46F9-6A837FEC9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A95EE-2987-9626-EAE9-7B4730FAF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EA0BB-0ECC-B13A-FDBB-D798537CA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E23B0-961D-F504-2A43-168072D7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0803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9A08D-C46E-7283-4894-6271AA3A9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950E9-FE69-65B0-3C67-E0E7F6ABE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D190D-10D0-7A79-E150-30DD589CE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2F0493-534D-6822-8771-59FC992D33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18A572-5CDC-FBAF-2D8C-BEF11BA1EE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0D1534-24ED-16BE-3A8B-F67B5E26F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4615E-FDEA-3570-9E2B-89D4E381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7A116-BA0B-3BDA-EF82-B00910798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37142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58067-6FEC-5C33-20B7-389F60A07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4AEE15-06CF-1264-B6F6-D78C626AE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09B17-5761-F515-0C6B-31A740122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80DE82-87FC-74E6-82BE-4ACCF1399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27549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EB41F9-DDA8-2FA1-F426-2F43A726B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D4C36-F7FA-577F-6CC6-DB858C8A0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A2F68-7031-6149-4997-1F78F194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0223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E8ADF-0453-F3EA-D5F9-87305F263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10C71-EA67-3833-08F1-4A5A1C32D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2576B-BD1B-FE74-6CBD-BB930B921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3AF23-C6C8-D97D-9080-A447542C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70DC8-FB9D-2B59-2895-310BC6FB5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71F02-4352-2B7E-1BB5-F3D9054B3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9288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ACB39-DC2D-5EBC-3C1B-98124952A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F53775-F48C-2A91-CABD-3EAA04DEFD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7E381-5080-145B-4D0B-98C87BE34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BA13F-6989-7C7E-5172-8B804F1F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3447D-596F-1BD6-3832-FA5D4A4C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19989-3D4F-4E96-30CF-4104698A4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66624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8C283-5FC1-24F4-0828-90ECAFACB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1165E-2CFB-4E56-1DEB-9BA3E6702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0ADF1-AFD6-3306-2246-9C185F99E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A443D-ADB9-A2EC-853E-9463697F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DF2C0-38CD-9CF3-8334-F6B70163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7416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DCCBFB-C9D9-D16E-98CC-1C4B72870A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3A379E-9FE3-F58E-8EAD-E5048D49D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FA6AC-99B5-29D1-6D6E-9AFE04FAE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D0581-53AB-BC07-84B3-9226E2D1A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F69A9-9139-9B0D-5F11-70E1D927B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9079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37AB10-C04D-CFFB-E6E0-95987E17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BF0BA-E122-F6CB-B4FA-45BBF03CB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38558-2E30-162A-AAAF-7E4A18C49B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9B823-8987-EC87-C32A-04CDF8270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58E64-169C-26A3-4C8D-11BBA35D71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7773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-1">
            <a:extLst>
              <a:ext uri="{FF2B5EF4-FFF2-40B4-BE49-F238E27FC236}">
                <a16:creationId xmlns:a16="http://schemas.microsoft.com/office/drawing/2014/main" id="{34AEDA5F-988C-B402-0D24-0378D6C58FAC}"/>
              </a:ext>
            </a:extLst>
          </p:cNvPr>
          <p:cNvSpPr>
            <a:spLocks noGrp="1"/>
          </p:cNvSpPr>
          <p:nvPr/>
        </p:nvSpPr>
        <p:spPr>
          <a:xfrm>
            <a:off x="280400" y="731520"/>
            <a:ext cx="6675253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450" b="1">
                <a:solidFill>
                  <a:srgbClr val="173665"/>
                </a:solidFill>
                <a:latin typeface="DejaVu Sans"/>
                <a:ea typeface="DejaVu Sans"/>
                <a:cs typeface="DejaVu Sans"/>
              </a:defRPr>
            </a:pPr>
            <a:r>
              <a:rPr sz="2800" b="1">
                <a:solidFill>
                  <a:srgbClr val="173665"/>
                </a:solidFill>
                <a:latin typeface="Aptos" panose="020B0004020202020204" pitchFamily="34" charset="0"/>
                <a:ea typeface="DejaVu Sans"/>
                <a:cs typeface="DejaVu Sans"/>
              </a:rPr>
              <a:t>LEFT-BEHIND GOODS REPORTING</a:t>
            </a:r>
          </a:p>
        </p:txBody>
      </p:sp>
      <p:sp>
        <p:nvSpPr>
          <p:cNvPr id="5" name="shape-2">
            <a:extLst>
              <a:ext uri="{FF2B5EF4-FFF2-40B4-BE49-F238E27FC236}">
                <a16:creationId xmlns:a16="http://schemas.microsoft.com/office/drawing/2014/main" id="{7156DFA6-5CB1-AAD5-7D83-7C3D5D9E5BB1}"/>
              </a:ext>
            </a:extLst>
          </p:cNvPr>
          <p:cNvSpPr>
            <a:spLocks noGrp="1"/>
          </p:cNvSpPr>
          <p:nvPr/>
        </p:nvSpPr>
        <p:spPr>
          <a:xfrm>
            <a:off x="7067496" y="783630"/>
            <a:ext cx="4844104" cy="457200"/>
          </a:xfrm>
          <a:prstGeom prst="roundRect">
            <a:avLst>
              <a:gd name="adj" fmla="val 18750"/>
            </a:avLst>
          </a:prstGeom>
          <a:solidFill>
            <a:srgbClr val="EAF3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-4">
            <a:extLst>
              <a:ext uri="{FF2B5EF4-FFF2-40B4-BE49-F238E27FC236}">
                <a16:creationId xmlns:a16="http://schemas.microsoft.com/office/drawing/2014/main" id="{C1F67D22-C1B0-1D0A-F892-8BF71E3E1264}"/>
              </a:ext>
            </a:extLst>
          </p:cNvPr>
          <p:cNvSpPr>
            <a:spLocks noGrp="1"/>
          </p:cNvSpPr>
          <p:nvPr/>
        </p:nvSpPr>
        <p:spPr>
          <a:xfrm>
            <a:off x="229584" y="1746058"/>
            <a:ext cx="3612706" cy="429260"/>
          </a:xfrm>
          <a:prstGeom prst="roundRect">
            <a:avLst>
              <a:gd name="adj" fmla="val 16667"/>
            </a:avLst>
          </a:prstGeom>
          <a:solidFill>
            <a:srgbClr val="E85B17"/>
          </a:solidFill>
          <a:ln w="0">
            <a:noFill/>
          </a:ln>
        </p:spPr>
        <p:txBody>
          <a:bodyPr/>
          <a:lstStyle/>
          <a:p>
            <a:endParaRPr lang="en-US" sz="700">
              <a:latin typeface="Aptos" panose="020B0004020202020204" pitchFamily="34" charset="0"/>
            </a:endParaRPr>
          </a:p>
        </p:txBody>
      </p:sp>
      <p:sp>
        <p:nvSpPr>
          <p:cNvPr id="7" name="shape-6">
            <a:extLst>
              <a:ext uri="{FF2B5EF4-FFF2-40B4-BE49-F238E27FC236}">
                <a16:creationId xmlns:a16="http://schemas.microsoft.com/office/drawing/2014/main" id="{C3F96C77-D5EB-E03B-AB4C-5E3A6ABF4A39}"/>
              </a:ext>
            </a:extLst>
          </p:cNvPr>
          <p:cNvSpPr>
            <a:spLocks noGrp="1"/>
          </p:cNvSpPr>
          <p:nvPr/>
        </p:nvSpPr>
        <p:spPr>
          <a:xfrm>
            <a:off x="1039209" y="1746058"/>
            <a:ext cx="2682875" cy="4292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  <a:ea typeface="DejaVu Sans"/>
                <a:cs typeface="DejaVu Sans"/>
              </a:rPr>
              <a:t>CURRENT STATE</a:t>
            </a:r>
          </a:p>
        </p:txBody>
      </p:sp>
      <p:sp>
        <p:nvSpPr>
          <p:cNvPr id="8" name="shape-7">
            <a:extLst>
              <a:ext uri="{FF2B5EF4-FFF2-40B4-BE49-F238E27FC236}">
                <a16:creationId xmlns:a16="http://schemas.microsoft.com/office/drawing/2014/main" id="{D733501E-7BD7-BB2E-8478-7329E2640B32}"/>
              </a:ext>
            </a:extLst>
          </p:cNvPr>
          <p:cNvSpPr>
            <a:spLocks noGrp="1"/>
          </p:cNvSpPr>
          <p:nvPr/>
        </p:nvSpPr>
        <p:spPr>
          <a:xfrm>
            <a:off x="229584" y="2265235"/>
            <a:ext cx="3642360" cy="1734186"/>
          </a:xfrm>
          <a:prstGeom prst="roundRect">
            <a:avLst>
              <a:gd name="adj" fmla="val 4317"/>
            </a:avLst>
          </a:prstGeom>
          <a:solidFill>
            <a:srgbClr val="FFF4EC"/>
          </a:solidFill>
          <a:ln w="0">
            <a:noFill/>
          </a:ln>
        </p:spPr>
        <p:txBody>
          <a:bodyPr/>
          <a:lstStyle/>
          <a:p>
            <a:endParaRPr lang="en-US" sz="700"/>
          </a:p>
        </p:txBody>
      </p:sp>
      <p:sp>
        <p:nvSpPr>
          <p:cNvPr id="9" name="shape-8">
            <a:extLst>
              <a:ext uri="{FF2B5EF4-FFF2-40B4-BE49-F238E27FC236}">
                <a16:creationId xmlns:a16="http://schemas.microsoft.com/office/drawing/2014/main" id="{5549FF42-7C15-2B8A-609B-54F6EA7958FB}"/>
              </a:ext>
            </a:extLst>
          </p:cNvPr>
          <p:cNvSpPr>
            <a:spLocks noGrp="1"/>
          </p:cNvSpPr>
          <p:nvPr/>
        </p:nvSpPr>
        <p:spPr>
          <a:xfrm>
            <a:off x="250729" y="4078301"/>
            <a:ext cx="3642359" cy="1734184"/>
          </a:xfrm>
          <a:prstGeom prst="roundRect">
            <a:avLst>
              <a:gd name="adj" fmla="val 5333"/>
            </a:avLst>
          </a:prstGeom>
          <a:solidFill>
            <a:srgbClr val="FFF4EC"/>
          </a:solidFill>
          <a:ln w="0">
            <a:noFill/>
          </a:ln>
        </p:spPr>
        <p:txBody>
          <a:bodyPr/>
          <a:lstStyle/>
          <a:p>
            <a:endParaRPr lang="en-US" sz="700"/>
          </a:p>
        </p:txBody>
      </p:sp>
      <p:sp>
        <p:nvSpPr>
          <p:cNvPr id="10" name="shape-40">
            <a:extLst>
              <a:ext uri="{FF2B5EF4-FFF2-40B4-BE49-F238E27FC236}">
                <a16:creationId xmlns:a16="http://schemas.microsoft.com/office/drawing/2014/main" id="{60F3D73C-4F22-D2D1-A23B-8747F4F304C8}"/>
              </a:ext>
            </a:extLst>
          </p:cNvPr>
          <p:cNvSpPr>
            <a:spLocks noGrp="1"/>
          </p:cNvSpPr>
          <p:nvPr/>
        </p:nvSpPr>
        <p:spPr>
          <a:xfrm>
            <a:off x="4180679" y="1746058"/>
            <a:ext cx="3638693" cy="429260"/>
          </a:xfrm>
          <a:prstGeom prst="roundRect">
            <a:avLst>
              <a:gd name="adj" fmla="val 16667"/>
            </a:avLst>
          </a:prstGeom>
          <a:solidFill>
            <a:srgbClr val="1469B9"/>
          </a:solidFill>
          <a:ln w="0">
            <a:noFill/>
          </a:ln>
        </p:spPr>
        <p:txBody>
          <a:bodyPr/>
          <a:lstStyle/>
          <a:p>
            <a:endParaRPr lang="en-US" sz="700">
              <a:latin typeface="Aptos" panose="020B0004020202020204" pitchFamily="34" charset="0"/>
            </a:endParaRPr>
          </a:p>
        </p:txBody>
      </p:sp>
      <p:sp>
        <p:nvSpPr>
          <p:cNvPr id="11" name="shape-42">
            <a:extLst>
              <a:ext uri="{FF2B5EF4-FFF2-40B4-BE49-F238E27FC236}">
                <a16:creationId xmlns:a16="http://schemas.microsoft.com/office/drawing/2014/main" id="{C28E7437-CA5F-BF95-A613-FB95CC1BBCAF}"/>
              </a:ext>
            </a:extLst>
          </p:cNvPr>
          <p:cNvSpPr>
            <a:spLocks noGrp="1"/>
          </p:cNvSpPr>
          <p:nvPr/>
        </p:nvSpPr>
        <p:spPr>
          <a:xfrm>
            <a:off x="4990305" y="1746058"/>
            <a:ext cx="2682875" cy="4292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  <a:ea typeface="DejaVu Sans"/>
                <a:cs typeface="DejaVu Sans"/>
              </a:rPr>
              <a:t>IMPROVEMENT 1</a:t>
            </a:r>
          </a:p>
        </p:txBody>
      </p:sp>
      <p:sp>
        <p:nvSpPr>
          <p:cNvPr id="12" name="shape-43">
            <a:extLst>
              <a:ext uri="{FF2B5EF4-FFF2-40B4-BE49-F238E27FC236}">
                <a16:creationId xmlns:a16="http://schemas.microsoft.com/office/drawing/2014/main" id="{121BF59C-6C72-5395-CF23-704C47020C18}"/>
              </a:ext>
            </a:extLst>
          </p:cNvPr>
          <p:cNvSpPr>
            <a:spLocks noGrp="1"/>
          </p:cNvSpPr>
          <p:nvPr/>
        </p:nvSpPr>
        <p:spPr>
          <a:xfrm>
            <a:off x="4180680" y="2265234"/>
            <a:ext cx="3642360" cy="1734187"/>
          </a:xfrm>
          <a:prstGeom prst="roundRect">
            <a:avLst>
              <a:gd name="adj" fmla="val 4317"/>
            </a:avLst>
          </a:prstGeom>
          <a:solidFill>
            <a:srgbClr val="EDF5FC"/>
          </a:solidFill>
          <a:ln w="0">
            <a:noFill/>
          </a:ln>
        </p:spPr>
        <p:txBody>
          <a:bodyPr/>
          <a:lstStyle/>
          <a:p>
            <a:endParaRPr lang="en-US" sz="700"/>
          </a:p>
        </p:txBody>
      </p:sp>
      <p:sp>
        <p:nvSpPr>
          <p:cNvPr id="13" name="shape-44">
            <a:extLst>
              <a:ext uri="{FF2B5EF4-FFF2-40B4-BE49-F238E27FC236}">
                <a16:creationId xmlns:a16="http://schemas.microsoft.com/office/drawing/2014/main" id="{416DB098-61E6-7B27-E5D0-6228726FF775}"/>
              </a:ext>
            </a:extLst>
          </p:cNvPr>
          <p:cNvSpPr>
            <a:spLocks noGrp="1"/>
          </p:cNvSpPr>
          <p:nvPr/>
        </p:nvSpPr>
        <p:spPr>
          <a:xfrm>
            <a:off x="4177014" y="4078301"/>
            <a:ext cx="3642359" cy="1734184"/>
          </a:xfrm>
          <a:prstGeom prst="roundRect">
            <a:avLst>
              <a:gd name="adj" fmla="val 5333"/>
            </a:avLst>
          </a:prstGeom>
          <a:solidFill>
            <a:srgbClr val="EDF5FC"/>
          </a:solidFill>
          <a:ln w="0">
            <a:noFill/>
          </a:ln>
        </p:spPr>
        <p:txBody>
          <a:bodyPr/>
          <a:lstStyle/>
          <a:p>
            <a:endParaRPr lang="en-US" sz="700"/>
          </a:p>
        </p:txBody>
      </p:sp>
      <p:sp>
        <p:nvSpPr>
          <p:cNvPr id="14" name="shape-76">
            <a:extLst>
              <a:ext uri="{FF2B5EF4-FFF2-40B4-BE49-F238E27FC236}">
                <a16:creationId xmlns:a16="http://schemas.microsoft.com/office/drawing/2014/main" id="{BDBB3AEC-8A28-E34A-8CE3-96D3E54753B2}"/>
              </a:ext>
            </a:extLst>
          </p:cNvPr>
          <p:cNvSpPr>
            <a:spLocks noGrp="1"/>
          </p:cNvSpPr>
          <p:nvPr/>
        </p:nvSpPr>
        <p:spPr>
          <a:xfrm>
            <a:off x="8058570" y="1746058"/>
            <a:ext cx="3982014" cy="429260"/>
          </a:xfrm>
          <a:prstGeom prst="roundRect">
            <a:avLst>
              <a:gd name="adj" fmla="val 16667"/>
            </a:avLst>
          </a:prstGeom>
          <a:solidFill>
            <a:srgbClr val="218447"/>
          </a:solidFill>
          <a:ln w="0">
            <a:noFill/>
          </a:ln>
        </p:spPr>
        <p:txBody>
          <a:bodyPr/>
          <a:lstStyle/>
          <a:p>
            <a:endParaRPr lang="en-US" sz="700">
              <a:latin typeface="Aptos" panose="020B0004020202020204" pitchFamily="34" charset="0"/>
            </a:endParaRPr>
          </a:p>
        </p:txBody>
      </p:sp>
      <p:sp>
        <p:nvSpPr>
          <p:cNvPr id="15" name="shape-78">
            <a:extLst>
              <a:ext uri="{FF2B5EF4-FFF2-40B4-BE49-F238E27FC236}">
                <a16:creationId xmlns:a16="http://schemas.microsoft.com/office/drawing/2014/main" id="{ADC99DEA-C4FB-0CBD-4D5C-87C48B2AA13A}"/>
              </a:ext>
            </a:extLst>
          </p:cNvPr>
          <p:cNvSpPr>
            <a:spLocks noGrp="1"/>
          </p:cNvSpPr>
          <p:nvPr/>
        </p:nvSpPr>
        <p:spPr>
          <a:xfrm>
            <a:off x="9040209" y="1746058"/>
            <a:ext cx="2682875" cy="4292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  <a:ea typeface="DejaVu Sans"/>
                <a:cs typeface="DejaVu Sans"/>
              </a:rPr>
              <a:t>IMPROVEMENT 2</a:t>
            </a:r>
          </a:p>
        </p:txBody>
      </p:sp>
      <p:sp>
        <p:nvSpPr>
          <p:cNvPr id="16" name="shape-79">
            <a:extLst>
              <a:ext uri="{FF2B5EF4-FFF2-40B4-BE49-F238E27FC236}">
                <a16:creationId xmlns:a16="http://schemas.microsoft.com/office/drawing/2014/main" id="{D181CFBD-D2D8-DBA3-FED8-0CB701B138E1}"/>
              </a:ext>
            </a:extLst>
          </p:cNvPr>
          <p:cNvSpPr>
            <a:spLocks noGrp="1"/>
          </p:cNvSpPr>
          <p:nvPr/>
        </p:nvSpPr>
        <p:spPr>
          <a:xfrm>
            <a:off x="8058570" y="2265234"/>
            <a:ext cx="3982014" cy="1734187"/>
          </a:xfrm>
          <a:prstGeom prst="roundRect">
            <a:avLst>
              <a:gd name="adj" fmla="val 4317"/>
            </a:avLst>
          </a:prstGeom>
          <a:solidFill>
            <a:srgbClr val="EEF8F0"/>
          </a:solidFill>
          <a:ln w="0">
            <a:noFill/>
          </a:ln>
        </p:spPr>
        <p:txBody>
          <a:bodyPr/>
          <a:lstStyle/>
          <a:p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17" name="shape-80">
            <a:extLst>
              <a:ext uri="{FF2B5EF4-FFF2-40B4-BE49-F238E27FC236}">
                <a16:creationId xmlns:a16="http://schemas.microsoft.com/office/drawing/2014/main" id="{D249965F-A8FA-178C-B64A-F250E7BD3739}"/>
              </a:ext>
            </a:extLst>
          </p:cNvPr>
          <p:cNvSpPr>
            <a:spLocks noGrp="1"/>
          </p:cNvSpPr>
          <p:nvPr/>
        </p:nvSpPr>
        <p:spPr>
          <a:xfrm>
            <a:off x="8058569" y="4078301"/>
            <a:ext cx="3982015" cy="1734179"/>
          </a:xfrm>
          <a:prstGeom prst="roundRect">
            <a:avLst>
              <a:gd name="adj" fmla="val 5333"/>
            </a:avLst>
          </a:prstGeom>
          <a:solidFill>
            <a:srgbClr val="EEF8F0"/>
          </a:solidFill>
          <a:ln w="0">
            <a:noFill/>
          </a:ln>
        </p:spPr>
        <p:txBody>
          <a:bodyPr/>
          <a:lstStyle/>
          <a:p>
            <a:endParaRPr lang="en-US" sz="7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9F6F587-55ED-5F21-7036-2F30D2E1E7B8}"/>
              </a:ext>
            </a:extLst>
          </p:cNvPr>
          <p:cNvSpPr/>
          <p:nvPr/>
        </p:nvSpPr>
        <p:spPr>
          <a:xfrm>
            <a:off x="166084" y="1714805"/>
            <a:ext cx="491765" cy="491765"/>
          </a:xfrm>
          <a:prstGeom prst="ellipse">
            <a:avLst/>
          </a:prstGeom>
          <a:solidFill>
            <a:srgbClr val="E85B1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19" name="shape-5">
            <a:extLst>
              <a:ext uri="{FF2B5EF4-FFF2-40B4-BE49-F238E27FC236}">
                <a16:creationId xmlns:a16="http://schemas.microsoft.com/office/drawing/2014/main" id="{D5D1724A-D553-9D01-E837-BDEA03C85F97}"/>
              </a:ext>
            </a:extLst>
          </p:cNvPr>
          <p:cNvSpPr>
            <a:spLocks noGrp="1"/>
          </p:cNvSpPr>
          <p:nvPr/>
        </p:nvSpPr>
        <p:spPr>
          <a:xfrm>
            <a:off x="240569" y="1746058"/>
            <a:ext cx="379180" cy="4292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  <a:ea typeface="DejaVu Sans"/>
                <a:cs typeface="DejaVu Sans"/>
              </a:rPr>
              <a:t>01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24FBD9-78A6-D50C-6331-451B955C6BFE}"/>
              </a:ext>
            </a:extLst>
          </p:cNvPr>
          <p:cNvSpPr/>
          <p:nvPr/>
        </p:nvSpPr>
        <p:spPr>
          <a:xfrm>
            <a:off x="4122260" y="1714805"/>
            <a:ext cx="491765" cy="491765"/>
          </a:xfrm>
          <a:prstGeom prst="ellipse">
            <a:avLst/>
          </a:prstGeom>
          <a:solidFill>
            <a:srgbClr val="1469B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21" name="shape-41">
            <a:extLst>
              <a:ext uri="{FF2B5EF4-FFF2-40B4-BE49-F238E27FC236}">
                <a16:creationId xmlns:a16="http://schemas.microsoft.com/office/drawing/2014/main" id="{8E040210-4610-5F91-1576-9B9202C2197F}"/>
              </a:ext>
            </a:extLst>
          </p:cNvPr>
          <p:cNvSpPr>
            <a:spLocks noGrp="1"/>
          </p:cNvSpPr>
          <p:nvPr/>
        </p:nvSpPr>
        <p:spPr>
          <a:xfrm>
            <a:off x="4191665" y="1741750"/>
            <a:ext cx="379180" cy="4292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  <a:ea typeface="DejaVu Sans"/>
                <a:cs typeface="DejaVu Sans"/>
              </a:rPr>
              <a:t>02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66B0796-6F77-0F50-7B6D-684CA87851F1}"/>
              </a:ext>
            </a:extLst>
          </p:cNvPr>
          <p:cNvSpPr/>
          <p:nvPr/>
        </p:nvSpPr>
        <p:spPr>
          <a:xfrm>
            <a:off x="7996929" y="1696553"/>
            <a:ext cx="491765" cy="491765"/>
          </a:xfrm>
          <a:prstGeom prst="ellipse">
            <a:avLst/>
          </a:prstGeom>
          <a:solidFill>
            <a:srgbClr val="21844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23" name="shape-77">
            <a:extLst>
              <a:ext uri="{FF2B5EF4-FFF2-40B4-BE49-F238E27FC236}">
                <a16:creationId xmlns:a16="http://schemas.microsoft.com/office/drawing/2014/main" id="{93831D73-9942-2F2F-50B0-447DE260D0CF}"/>
              </a:ext>
            </a:extLst>
          </p:cNvPr>
          <p:cNvSpPr>
            <a:spLocks noGrp="1"/>
          </p:cNvSpPr>
          <p:nvPr/>
        </p:nvSpPr>
        <p:spPr>
          <a:xfrm>
            <a:off x="8143257" y="1741750"/>
            <a:ext cx="379180" cy="4292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  <a:ea typeface="DejaVu Sans"/>
                <a:cs typeface="DejaVu Sans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92068E-8C6F-3E8B-9AE8-50D692510EED}"/>
              </a:ext>
            </a:extLst>
          </p:cNvPr>
          <p:cNvSpPr txBox="1"/>
          <p:nvPr/>
        </p:nvSpPr>
        <p:spPr>
          <a:xfrm>
            <a:off x="925543" y="2306869"/>
            <a:ext cx="279654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2060"/>
                </a:solidFill>
              </a:rPr>
              <a:t>On-site Recording</a:t>
            </a:r>
          </a:p>
          <a:p>
            <a:r>
              <a:rPr lang="en-US" sz="1100">
                <a:solidFill>
                  <a:srgbClr val="002060"/>
                </a:solidFill>
              </a:rPr>
              <a:t>Staff fill in paper slips manually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9A1248E-1A9B-B7B2-C9C7-71685DDBE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67" y="2288600"/>
            <a:ext cx="482600" cy="4826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E16EADA-2DA2-1AD3-D016-91C5929EFCAC}"/>
              </a:ext>
            </a:extLst>
          </p:cNvPr>
          <p:cNvSpPr txBox="1"/>
          <p:nvPr/>
        </p:nvSpPr>
        <p:spPr>
          <a:xfrm>
            <a:off x="4857865" y="2306869"/>
            <a:ext cx="269847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2060"/>
                </a:solidFill>
              </a:rPr>
              <a:t>On-site Recording</a:t>
            </a:r>
          </a:p>
          <a:p>
            <a:r>
              <a:rPr lang="en-US" sz="1100">
                <a:solidFill>
                  <a:srgbClr val="002060"/>
                </a:solidFill>
              </a:rPr>
              <a:t>Staff fill in paper slips manually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639343-D797-E893-D1C4-390EABFE890D}"/>
              </a:ext>
            </a:extLst>
          </p:cNvPr>
          <p:cNvSpPr txBox="1"/>
          <p:nvPr/>
        </p:nvSpPr>
        <p:spPr>
          <a:xfrm>
            <a:off x="8848449" y="2306869"/>
            <a:ext cx="326489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2060"/>
                </a:solidFill>
              </a:rPr>
              <a:t>On-site Recording</a:t>
            </a:r>
          </a:p>
          <a:p>
            <a:r>
              <a:rPr lang="en-US" sz="1100">
                <a:solidFill>
                  <a:srgbClr val="002060"/>
                </a:solidFill>
              </a:rPr>
              <a:t>Staff scan QR codes via </a:t>
            </a:r>
            <a:r>
              <a:rPr lang="en-US" sz="1100" b="1">
                <a:solidFill>
                  <a:srgbClr val="002060"/>
                </a:solidFill>
              </a:rPr>
              <a:t>Power Apps</a:t>
            </a:r>
          </a:p>
        </p:txBody>
      </p:sp>
      <p:sp>
        <p:nvSpPr>
          <p:cNvPr id="28" name="shape-10">
            <a:extLst>
              <a:ext uri="{FF2B5EF4-FFF2-40B4-BE49-F238E27FC236}">
                <a16:creationId xmlns:a16="http://schemas.microsoft.com/office/drawing/2014/main" id="{75EE118E-63F8-3E6C-DD6B-FBFAF11040CE}"/>
              </a:ext>
            </a:extLst>
          </p:cNvPr>
          <p:cNvSpPr>
            <a:spLocks noGrp="1"/>
          </p:cNvSpPr>
          <p:nvPr/>
        </p:nvSpPr>
        <p:spPr>
          <a:xfrm>
            <a:off x="351504" y="3482749"/>
            <a:ext cx="2112126" cy="409575"/>
          </a:xfrm>
          <a:prstGeom prst="roundRect">
            <a:avLst>
              <a:gd name="adj" fmla="val 20930"/>
            </a:avLst>
          </a:prstGeom>
          <a:solidFill>
            <a:srgbClr val="FDE9E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-11">
            <a:extLst>
              <a:ext uri="{FF2B5EF4-FFF2-40B4-BE49-F238E27FC236}">
                <a16:creationId xmlns:a16="http://schemas.microsoft.com/office/drawing/2014/main" id="{4A431D37-48BA-9478-6A1D-135CB659ADC1}"/>
              </a:ext>
            </a:extLst>
          </p:cNvPr>
          <p:cNvSpPr>
            <a:spLocks noGrp="1"/>
          </p:cNvSpPr>
          <p:nvPr/>
        </p:nvSpPr>
        <p:spPr>
          <a:xfrm>
            <a:off x="375317" y="3482749"/>
            <a:ext cx="16097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rPr>
              <a:t>36 hrs / month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18F6D72-917E-C496-520B-E517BA7AD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357" y="2279509"/>
            <a:ext cx="507832" cy="50783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55826B3-C2C9-1A1B-8DB7-C9B63B6C3CF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506" y="4022986"/>
            <a:ext cx="616638" cy="61663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E0E4105-F1E5-3CBB-3A27-174A1354B2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681" y="4022986"/>
            <a:ext cx="616638" cy="61663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218A80F-BA2A-DEC2-D35C-84705DE544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16" y="4022986"/>
            <a:ext cx="616638" cy="61663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5B6A686-9941-CC4C-2F0D-2A0E71C6815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509" y="2270726"/>
            <a:ext cx="507832" cy="50783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881B933-5DA7-46E9-41AA-13B65A49B8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655" y="3520498"/>
            <a:ext cx="354396" cy="35439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B8B2CD6-7E9B-19CA-AB13-8C84A72A14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832" y="4500338"/>
            <a:ext cx="768130" cy="76813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3CD19DF-2D29-9323-5937-234280BA33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26" y="4672644"/>
            <a:ext cx="437779" cy="43777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EC91EA3-C04D-46B5-5A50-78741BE48943}"/>
              </a:ext>
            </a:extLst>
          </p:cNvPr>
          <p:cNvSpPr txBox="1"/>
          <p:nvPr/>
        </p:nvSpPr>
        <p:spPr>
          <a:xfrm>
            <a:off x="1045749" y="4101026"/>
            <a:ext cx="279654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2060"/>
                </a:solidFill>
              </a:rPr>
              <a:t>Data Entry</a:t>
            </a:r>
          </a:p>
          <a:p>
            <a:r>
              <a:rPr lang="en-US" sz="1100">
                <a:solidFill>
                  <a:srgbClr val="002060"/>
                </a:solidFill>
              </a:rPr>
              <a:t>Staff process data in Excel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5C719C2-DF58-C54A-A9F9-EA173DFCA1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589" y="4500337"/>
            <a:ext cx="898045" cy="89804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DBA117D-7E95-0393-DC49-DAD7714B26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405" y="4500337"/>
            <a:ext cx="898045" cy="898045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18B3BEC2-1158-5687-E35B-7E6E4CBAD54C}"/>
              </a:ext>
            </a:extLst>
          </p:cNvPr>
          <p:cNvSpPr txBox="1"/>
          <p:nvPr/>
        </p:nvSpPr>
        <p:spPr>
          <a:xfrm>
            <a:off x="4936475" y="4171558"/>
            <a:ext cx="279654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2060"/>
                </a:solidFill>
              </a:rPr>
              <a:t>Data Entry</a:t>
            </a:r>
          </a:p>
          <a:p>
            <a:r>
              <a:rPr lang="en-US" sz="1100">
                <a:solidFill>
                  <a:srgbClr val="002060"/>
                </a:solidFill>
              </a:rPr>
              <a:t>Staff process data via a desktop tool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A6489C-0E8F-2F95-848C-4EBB7BBE6876}"/>
              </a:ext>
            </a:extLst>
          </p:cNvPr>
          <p:cNvSpPr txBox="1"/>
          <p:nvPr/>
        </p:nvSpPr>
        <p:spPr>
          <a:xfrm>
            <a:off x="8978890" y="4153946"/>
            <a:ext cx="306169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2060"/>
                </a:solidFill>
              </a:rPr>
              <a:t>Data Entry</a:t>
            </a:r>
          </a:p>
          <a:p>
            <a:r>
              <a:rPr lang="en-US" sz="1100">
                <a:solidFill>
                  <a:srgbClr val="002060"/>
                </a:solidFill>
              </a:rPr>
              <a:t>Staff receive on-site data via email</a:t>
            </a:r>
          </a:p>
        </p:txBody>
      </p:sp>
      <p:sp>
        <p:nvSpPr>
          <p:cNvPr id="43" name="shape-10">
            <a:extLst>
              <a:ext uri="{FF2B5EF4-FFF2-40B4-BE49-F238E27FC236}">
                <a16:creationId xmlns:a16="http://schemas.microsoft.com/office/drawing/2014/main" id="{99566949-37A0-263B-A1D9-2A651DBCE6C8}"/>
              </a:ext>
            </a:extLst>
          </p:cNvPr>
          <p:cNvSpPr>
            <a:spLocks noGrp="1"/>
          </p:cNvSpPr>
          <p:nvPr/>
        </p:nvSpPr>
        <p:spPr>
          <a:xfrm>
            <a:off x="373367" y="5289108"/>
            <a:ext cx="2056684" cy="409575"/>
          </a:xfrm>
          <a:prstGeom prst="roundRect">
            <a:avLst>
              <a:gd name="adj" fmla="val 20930"/>
            </a:avLst>
          </a:prstGeom>
          <a:solidFill>
            <a:srgbClr val="FDE9E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-11">
            <a:extLst>
              <a:ext uri="{FF2B5EF4-FFF2-40B4-BE49-F238E27FC236}">
                <a16:creationId xmlns:a16="http://schemas.microsoft.com/office/drawing/2014/main" id="{99B5D865-9AE2-76D0-48AC-0096472902AE}"/>
              </a:ext>
            </a:extLst>
          </p:cNvPr>
          <p:cNvSpPr>
            <a:spLocks noGrp="1"/>
          </p:cNvSpPr>
          <p:nvPr/>
        </p:nvSpPr>
        <p:spPr>
          <a:xfrm>
            <a:off x="397180" y="5289108"/>
            <a:ext cx="16097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rPr>
              <a:t>72</a:t>
            </a:r>
            <a:r>
              <a: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rPr>
              <a:t> hrs / month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8C7D103-D4A3-9967-8A60-774A48AC88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905" y="5325843"/>
            <a:ext cx="354396" cy="35439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B032E11-FF22-E9E6-DE8F-578F1569584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8338" y="4618020"/>
            <a:ext cx="674331" cy="67433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A10EB1D-B48A-8689-1280-9CF8F19491C7}"/>
              </a:ext>
            </a:extLst>
          </p:cNvPr>
          <p:cNvSpPr txBox="1"/>
          <p:nvPr/>
        </p:nvSpPr>
        <p:spPr>
          <a:xfrm>
            <a:off x="9889918" y="4655460"/>
            <a:ext cx="58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854CD4-5C38-1FCF-06A9-E4FFD45B17EE}"/>
              </a:ext>
            </a:extLst>
          </p:cNvPr>
          <p:cNvSpPr txBox="1"/>
          <p:nvPr/>
        </p:nvSpPr>
        <p:spPr>
          <a:xfrm>
            <a:off x="1674481" y="4568369"/>
            <a:ext cx="58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+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781ED18E-7F3B-7565-C6EF-1A02C5C25D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479" y="4618020"/>
            <a:ext cx="749755" cy="749755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7FFBE24D-1E74-299C-2936-737F1044D1B6}"/>
              </a:ext>
            </a:extLst>
          </p:cNvPr>
          <p:cNvSpPr txBox="1"/>
          <p:nvPr/>
        </p:nvSpPr>
        <p:spPr>
          <a:xfrm>
            <a:off x="5773149" y="4675963"/>
            <a:ext cx="58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+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5263F68-B8CD-7BD8-0031-A8550EF6DAFC}"/>
              </a:ext>
            </a:extLst>
          </p:cNvPr>
          <p:cNvCxnSpPr>
            <a:cxnSpLocks/>
          </p:cNvCxnSpPr>
          <p:nvPr/>
        </p:nvCxnSpPr>
        <p:spPr>
          <a:xfrm>
            <a:off x="397180" y="4661777"/>
            <a:ext cx="3387295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18607C5-019E-38AC-78FD-8D5C8D7D1BEE}"/>
              </a:ext>
            </a:extLst>
          </p:cNvPr>
          <p:cNvCxnSpPr>
            <a:cxnSpLocks/>
          </p:cNvCxnSpPr>
          <p:nvPr/>
        </p:nvCxnSpPr>
        <p:spPr>
          <a:xfrm>
            <a:off x="4307139" y="4661777"/>
            <a:ext cx="3387295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EA37846-C8BF-8603-BA27-14990518A49D}"/>
              </a:ext>
            </a:extLst>
          </p:cNvPr>
          <p:cNvCxnSpPr>
            <a:cxnSpLocks/>
          </p:cNvCxnSpPr>
          <p:nvPr/>
        </p:nvCxnSpPr>
        <p:spPr>
          <a:xfrm>
            <a:off x="8351509" y="4661777"/>
            <a:ext cx="3387295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73F3FDD-62EB-D870-37E0-A41C1C8BA8F9}"/>
              </a:ext>
            </a:extLst>
          </p:cNvPr>
          <p:cNvCxnSpPr>
            <a:cxnSpLocks/>
          </p:cNvCxnSpPr>
          <p:nvPr/>
        </p:nvCxnSpPr>
        <p:spPr>
          <a:xfrm>
            <a:off x="397180" y="2806661"/>
            <a:ext cx="3387295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D724AFE-9515-76D4-CEAA-4D342CD55523}"/>
              </a:ext>
            </a:extLst>
          </p:cNvPr>
          <p:cNvCxnSpPr>
            <a:cxnSpLocks/>
          </p:cNvCxnSpPr>
          <p:nvPr/>
        </p:nvCxnSpPr>
        <p:spPr>
          <a:xfrm>
            <a:off x="4307139" y="2806661"/>
            <a:ext cx="3387295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6F52DE1-BC02-9D95-C454-17DB0E7AE640}"/>
              </a:ext>
            </a:extLst>
          </p:cNvPr>
          <p:cNvCxnSpPr>
            <a:cxnSpLocks/>
          </p:cNvCxnSpPr>
          <p:nvPr/>
        </p:nvCxnSpPr>
        <p:spPr>
          <a:xfrm>
            <a:off x="8351509" y="2806661"/>
            <a:ext cx="3387295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7F083E6-77E9-261C-F7FA-A089F14D68A3}"/>
              </a:ext>
            </a:extLst>
          </p:cNvPr>
          <p:cNvSpPr txBox="1"/>
          <p:nvPr/>
        </p:nvSpPr>
        <p:spPr>
          <a:xfrm>
            <a:off x="4285225" y="4868368"/>
            <a:ext cx="589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Tool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9895A07-C895-462F-01CF-50D27CE4B9C7}"/>
              </a:ext>
            </a:extLst>
          </p:cNvPr>
          <p:cNvSpPr txBox="1"/>
          <p:nvPr/>
        </p:nvSpPr>
        <p:spPr>
          <a:xfrm>
            <a:off x="8132022" y="4912909"/>
            <a:ext cx="11134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Email Inbox</a:t>
            </a:r>
          </a:p>
        </p:txBody>
      </p:sp>
      <p:sp>
        <p:nvSpPr>
          <p:cNvPr id="59" name="shape-10">
            <a:extLst>
              <a:ext uri="{FF2B5EF4-FFF2-40B4-BE49-F238E27FC236}">
                <a16:creationId xmlns:a16="http://schemas.microsoft.com/office/drawing/2014/main" id="{23EAB68A-0051-B261-9666-9C3BE2274852}"/>
              </a:ext>
            </a:extLst>
          </p:cNvPr>
          <p:cNvSpPr>
            <a:spLocks noGrp="1"/>
          </p:cNvSpPr>
          <p:nvPr/>
        </p:nvSpPr>
        <p:spPr>
          <a:xfrm>
            <a:off x="4297856" y="3482749"/>
            <a:ext cx="2053002" cy="409575"/>
          </a:xfrm>
          <a:prstGeom prst="roundRect">
            <a:avLst>
              <a:gd name="adj" fmla="val 20930"/>
            </a:avLst>
          </a:prstGeom>
          <a:solidFill>
            <a:srgbClr val="FDE9E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-11">
            <a:extLst>
              <a:ext uri="{FF2B5EF4-FFF2-40B4-BE49-F238E27FC236}">
                <a16:creationId xmlns:a16="http://schemas.microsoft.com/office/drawing/2014/main" id="{CFD8AFB4-1E20-87B3-F014-E783E1D6B06A}"/>
              </a:ext>
            </a:extLst>
          </p:cNvPr>
          <p:cNvSpPr>
            <a:spLocks noGrp="1"/>
          </p:cNvSpPr>
          <p:nvPr/>
        </p:nvSpPr>
        <p:spPr>
          <a:xfrm>
            <a:off x="4321669" y="3482749"/>
            <a:ext cx="16097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rPr>
              <a:t>36 hrs / month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B55494FF-3CBC-8873-377E-CB0D637E84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211" y="3520498"/>
            <a:ext cx="354396" cy="354396"/>
          </a:xfrm>
          <a:prstGeom prst="rect">
            <a:avLst/>
          </a:prstGeom>
        </p:spPr>
      </p:pic>
      <p:sp>
        <p:nvSpPr>
          <p:cNvPr id="62" name="shape-10">
            <a:extLst>
              <a:ext uri="{FF2B5EF4-FFF2-40B4-BE49-F238E27FC236}">
                <a16:creationId xmlns:a16="http://schemas.microsoft.com/office/drawing/2014/main" id="{D0D69F3E-C03D-08A3-67B5-5A89E549AEB2}"/>
              </a:ext>
            </a:extLst>
          </p:cNvPr>
          <p:cNvSpPr>
            <a:spLocks noGrp="1"/>
          </p:cNvSpPr>
          <p:nvPr/>
        </p:nvSpPr>
        <p:spPr>
          <a:xfrm>
            <a:off x="4319719" y="5289108"/>
            <a:ext cx="2043205" cy="409575"/>
          </a:xfrm>
          <a:prstGeom prst="roundRect">
            <a:avLst>
              <a:gd name="adj" fmla="val 20930"/>
            </a:avLst>
          </a:prstGeom>
          <a:solidFill>
            <a:srgbClr val="FDE9E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-11">
            <a:extLst>
              <a:ext uri="{FF2B5EF4-FFF2-40B4-BE49-F238E27FC236}">
                <a16:creationId xmlns:a16="http://schemas.microsoft.com/office/drawing/2014/main" id="{051CF495-1CC9-A0C3-CABD-EA4A22CDB276}"/>
              </a:ext>
            </a:extLst>
          </p:cNvPr>
          <p:cNvSpPr>
            <a:spLocks noGrp="1"/>
          </p:cNvSpPr>
          <p:nvPr/>
        </p:nvSpPr>
        <p:spPr>
          <a:xfrm>
            <a:off x="4343532" y="5289108"/>
            <a:ext cx="16097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rPr>
              <a:t>12</a:t>
            </a:r>
            <a:r>
              <a: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rPr>
              <a:t> hrs / month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4D8E9F34-3D5D-8E94-8EF4-21A21D14CC9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462" y="5325843"/>
            <a:ext cx="354396" cy="354396"/>
          </a:xfrm>
          <a:prstGeom prst="rect">
            <a:avLst/>
          </a:prstGeom>
        </p:spPr>
      </p:pic>
      <p:sp>
        <p:nvSpPr>
          <p:cNvPr id="65" name="shape-10">
            <a:extLst>
              <a:ext uri="{FF2B5EF4-FFF2-40B4-BE49-F238E27FC236}">
                <a16:creationId xmlns:a16="http://schemas.microsoft.com/office/drawing/2014/main" id="{5E0440D6-43A9-2A42-2E5E-9EAEAF5D628B}"/>
              </a:ext>
            </a:extLst>
          </p:cNvPr>
          <p:cNvSpPr>
            <a:spLocks noGrp="1"/>
          </p:cNvSpPr>
          <p:nvPr/>
        </p:nvSpPr>
        <p:spPr>
          <a:xfrm>
            <a:off x="8360325" y="3517649"/>
            <a:ext cx="2021954" cy="409575"/>
          </a:xfrm>
          <a:prstGeom prst="roundRect">
            <a:avLst>
              <a:gd name="adj" fmla="val 20930"/>
            </a:avLst>
          </a:prstGeom>
          <a:solidFill>
            <a:schemeClr val="accent3">
              <a:lumMod val="20000"/>
              <a:lumOff val="80000"/>
            </a:scheme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-11">
            <a:extLst>
              <a:ext uri="{FF2B5EF4-FFF2-40B4-BE49-F238E27FC236}">
                <a16:creationId xmlns:a16="http://schemas.microsoft.com/office/drawing/2014/main" id="{E5D2D198-7673-E9F2-D237-9504E21BF1AD}"/>
              </a:ext>
            </a:extLst>
          </p:cNvPr>
          <p:cNvSpPr>
            <a:spLocks noGrp="1"/>
          </p:cNvSpPr>
          <p:nvPr/>
        </p:nvSpPr>
        <p:spPr>
          <a:xfrm>
            <a:off x="8384138" y="3517649"/>
            <a:ext cx="16097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1">
                <a:solidFill>
                  <a:srgbClr val="1B7A3E"/>
                </a:solidFill>
                <a:latin typeface="DejaVu Sans"/>
                <a:ea typeface="DejaVu Sans"/>
                <a:cs typeface="DejaVu Sans"/>
              </a:rPr>
              <a:t>12</a:t>
            </a:r>
            <a:r>
              <a:rPr sz="1500" b="1">
                <a:solidFill>
                  <a:srgbClr val="1B7A3E"/>
                </a:solidFill>
                <a:latin typeface="DejaVu Sans"/>
                <a:ea typeface="DejaVu Sans"/>
                <a:cs typeface="DejaVu Sans"/>
              </a:rPr>
              <a:t> hrs / month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5796B058-3CBC-BC06-8788-8CA7CBD9C0AB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7883" y="3560192"/>
            <a:ext cx="354396" cy="354396"/>
          </a:xfrm>
          <a:prstGeom prst="rect">
            <a:avLst/>
          </a:prstGeom>
        </p:spPr>
      </p:pic>
      <p:sp>
        <p:nvSpPr>
          <p:cNvPr id="68" name="shape-10">
            <a:extLst>
              <a:ext uri="{FF2B5EF4-FFF2-40B4-BE49-F238E27FC236}">
                <a16:creationId xmlns:a16="http://schemas.microsoft.com/office/drawing/2014/main" id="{8B209006-390A-F1ED-AB2F-DE55E2310B46}"/>
              </a:ext>
            </a:extLst>
          </p:cNvPr>
          <p:cNvSpPr>
            <a:spLocks noGrp="1"/>
          </p:cNvSpPr>
          <p:nvPr/>
        </p:nvSpPr>
        <p:spPr>
          <a:xfrm>
            <a:off x="8382188" y="5255184"/>
            <a:ext cx="1999458" cy="409575"/>
          </a:xfrm>
          <a:prstGeom prst="roundRect">
            <a:avLst>
              <a:gd name="adj" fmla="val 20930"/>
            </a:avLst>
          </a:prstGeom>
          <a:solidFill>
            <a:schemeClr val="accent3">
              <a:lumMod val="20000"/>
              <a:lumOff val="80000"/>
            </a:scheme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-11">
            <a:extLst>
              <a:ext uri="{FF2B5EF4-FFF2-40B4-BE49-F238E27FC236}">
                <a16:creationId xmlns:a16="http://schemas.microsoft.com/office/drawing/2014/main" id="{1E153C9A-B404-F2D7-323A-D9DCA8336311}"/>
              </a:ext>
            </a:extLst>
          </p:cNvPr>
          <p:cNvSpPr>
            <a:spLocks noGrp="1"/>
          </p:cNvSpPr>
          <p:nvPr/>
        </p:nvSpPr>
        <p:spPr>
          <a:xfrm>
            <a:off x="8406001" y="5265016"/>
            <a:ext cx="16097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1">
                <a:solidFill>
                  <a:schemeClr val="accent3">
                    <a:lumMod val="75000"/>
                  </a:schemeClr>
                </a:solidFill>
                <a:latin typeface="DejaVu Sans"/>
                <a:ea typeface="DejaVu Sans"/>
                <a:cs typeface="DejaVu Sans"/>
              </a:rPr>
              <a:t>10</a:t>
            </a:r>
            <a:r>
              <a:rPr sz="1500" b="1">
                <a:solidFill>
                  <a:schemeClr val="accent3">
                    <a:lumMod val="75000"/>
                  </a:schemeClr>
                </a:solidFill>
                <a:latin typeface="DejaVu Sans"/>
                <a:ea typeface="DejaVu Sans"/>
                <a:cs typeface="DejaVu Sans"/>
              </a:rPr>
              <a:t> hrs / month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FFD37629-DAEA-25E2-A1EB-6508D109DC7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7250" y="5285295"/>
            <a:ext cx="354396" cy="354396"/>
          </a:xfrm>
          <a:prstGeom prst="rect">
            <a:avLst/>
          </a:prstGeom>
        </p:spPr>
      </p:pic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C40E860-D616-128E-A195-0DA54D7EA815}"/>
              </a:ext>
            </a:extLst>
          </p:cNvPr>
          <p:cNvCxnSpPr/>
          <p:nvPr/>
        </p:nvCxnSpPr>
        <p:spPr>
          <a:xfrm>
            <a:off x="2906744" y="3723156"/>
            <a:ext cx="1239520" cy="0"/>
          </a:xfrm>
          <a:prstGeom prst="straightConnector1">
            <a:avLst/>
          </a:prstGeom>
          <a:ln w="41275">
            <a:solidFill>
              <a:srgbClr val="1469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51011D9-100C-1302-16EB-043F94F15D8B}"/>
              </a:ext>
            </a:extLst>
          </p:cNvPr>
          <p:cNvCxnSpPr/>
          <p:nvPr/>
        </p:nvCxnSpPr>
        <p:spPr>
          <a:xfrm>
            <a:off x="6759013" y="3723156"/>
            <a:ext cx="1239520" cy="0"/>
          </a:xfrm>
          <a:prstGeom prst="straightConnector1">
            <a:avLst/>
          </a:prstGeom>
          <a:ln w="412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62120B5-9874-607F-CB90-517EB2561125}"/>
              </a:ext>
            </a:extLst>
          </p:cNvPr>
          <p:cNvCxnSpPr/>
          <p:nvPr/>
        </p:nvCxnSpPr>
        <p:spPr>
          <a:xfrm>
            <a:off x="2906744" y="5504055"/>
            <a:ext cx="1239520" cy="0"/>
          </a:xfrm>
          <a:prstGeom prst="straightConnector1">
            <a:avLst/>
          </a:prstGeom>
          <a:ln w="41275">
            <a:solidFill>
              <a:srgbClr val="1469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61FE1EA-67E0-AD95-BF32-51E29F68D233}"/>
              </a:ext>
            </a:extLst>
          </p:cNvPr>
          <p:cNvCxnSpPr/>
          <p:nvPr/>
        </p:nvCxnSpPr>
        <p:spPr>
          <a:xfrm>
            <a:off x="6759013" y="5493895"/>
            <a:ext cx="1239520" cy="0"/>
          </a:xfrm>
          <a:prstGeom prst="straightConnector1">
            <a:avLst/>
          </a:prstGeom>
          <a:ln w="412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D8E9AEB5-97A4-90C9-21B3-A14E413404C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609" y="2861360"/>
            <a:ext cx="394060" cy="59109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E5685842-D7ED-ECB0-C7E1-501FCC3F144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571" y="2912638"/>
            <a:ext cx="1332040" cy="44401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A95701D6-73E0-A3A2-0590-6F426982C47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596" y="2737444"/>
            <a:ext cx="829976" cy="664218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FFD3C242-6D33-C99C-5ED0-265269962A4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26" y="2728559"/>
            <a:ext cx="833327" cy="666900"/>
          </a:xfrm>
          <a:prstGeom prst="rect">
            <a:avLst/>
          </a:prstGeom>
        </p:spPr>
      </p:pic>
      <p:sp>
        <p:nvSpPr>
          <p:cNvPr id="79" name="shape-11">
            <a:extLst>
              <a:ext uri="{FF2B5EF4-FFF2-40B4-BE49-F238E27FC236}">
                <a16:creationId xmlns:a16="http://schemas.microsoft.com/office/drawing/2014/main" id="{FF4C56B9-4FFB-197A-E03B-0C59A0C06E0D}"/>
              </a:ext>
            </a:extLst>
          </p:cNvPr>
          <p:cNvSpPr>
            <a:spLocks noGrp="1"/>
          </p:cNvSpPr>
          <p:nvPr/>
        </p:nvSpPr>
        <p:spPr>
          <a:xfrm>
            <a:off x="7545340" y="806718"/>
            <a:ext cx="436626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rPr>
              <a:t>130 slips / month </a:t>
            </a:r>
            <a:r>
              <a:rPr lang="en-US"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  <a:sym typeface="Wingdings" panose="05000000000000000000" pitchFamily="2" charset="2"/>
              </a:rPr>
              <a:t> 4,420 line items</a:t>
            </a:r>
            <a:endParaRPr sz="1500" b="1">
              <a:solidFill>
                <a:srgbClr val="D32F27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D300E1F7-34E8-102E-A5BD-6496B9E22C5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6301" y="835217"/>
            <a:ext cx="341608" cy="341608"/>
          </a:xfrm>
          <a:prstGeom prst="rect">
            <a:avLst/>
          </a:prstGeom>
        </p:spPr>
      </p:pic>
      <p:sp>
        <p:nvSpPr>
          <p:cNvPr id="81" name="shape-1">
            <a:extLst>
              <a:ext uri="{FF2B5EF4-FFF2-40B4-BE49-F238E27FC236}">
                <a16:creationId xmlns:a16="http://schemas.microsoft.com/office/drawing/2014/main" id="{19D6834B-B5EF-FD92-FF40-00E0B32E3C7D}"/>
              </a:ext>
            </a:extLst>
          </p:cNvPr>
          <p:cNvSpPr>
            <a:spLocks noGrp="1"/>
          </p:cNvSpPr>
          <p:nvPr/>
        </p:nvSpPr>
        <p:spPr>
          <a:xfrm>
            <a:off x="2902291" y="67631"/>
            <a:ext cx="6675253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450" b="1">
                <a:solidFill>
                  <a:srgbClr val="173665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  <a:ea typeface="DejaVu Sans"/>
                <a:cs typeface="DejaVu Sans"/>
              </a:rPr>
              <a:t>POWER APPS IMPLEMENTATION</a:t>
            </a:r>
            <a:endParaRPr sz="2400" b="1">
              <a:solidFill>
                <a:schemeClr val="bg1"/>
              </a:solidFill>
              <a:latin typeface="Aptos" panose="020B0004020202020204" pitchFamily="34" charset="0"/>
              <a:ea typeface="DejaVu Sans"/>
              <a:cs typeface="DejaVu Sans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E25F6865-5B12-C3DC-44FD-5C4522E3488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92546" y="3028148"/>
            <a:ext cx="286344" cy="286344"/>
          </a:xfrm>
          <a:prstGeom prst="rect">
            <a:avLst/>
          </a:prstGeom>
        </p:spPr>
      </p:pic>
      <p:sp>
        <p:nvSpPr>
          <p:cNvPr id="101" name="Business Context"/>
          <p:cNvSpPr/>
          <p:nvPr/>
        </p:nvSpPr>
        <p:spPr>
          <a:xfrm>
            <a:off x="228600" y="1280160"/>
            <a:ext cx="11804904" cy="384048"/>
          </a:xfrm>
          <a:prstGeom prst="roundRect">
            <a:avLst>
              <a:gd name="adj" fmla="val 20000"/>
            </a:avLst>
          </a:prstGeom>
          <a:solidFill>
            <a:srgbClr val="EAF3FB"/>
          </a:solidFill>
          <a:ln w="0">
            <a:noFill/>
          </a:ln>
        </p:spPr>
        <p:txBody>
          <a:bodyPr wrap="square" lIns="109728" tIns="36576" rIns="109728" bIns="36576" anchor="ctr">
            <a:normAutofit/>
          </a:bodyPr>
          <a:lstStyle/>
          <a:p>
            <a:pPr algn="l"/>
            <a:r>
              <a:rPr lang="en-US" sz="1200" b="1" i="0" dirty="0">
                <a:solidFill>
                  <a:srgbClr val="173665"/>
                </a:solidFill>
              </a:rPr>
              <a:t xml:space="preserve">Business context: </a:t>
            </a:r>
            <a:r>
              <a:rPr lang="en-US" sz="1200" b="0" i="0" dirty="0">
                <a:solidFill>
                  <a:srgbClr val="002060"/>
                </a:solidFill>
              </a:rPr>
              <a:t xml:space="preserve">B2C outbound goods not loaded onto trucks are left behind daily and must be recorded to create SAP BINs for re-storage and reloading.</a:t>
            </a:r>
          </a:p>
        </p:txBody>
      </p:sp>
      <p:sp>
        <p:nvSpPr>
          <p:cNvPr id="102" name="Savings Band"/>
          <p:cNvSpPr/>
          <p:nvPr/>
        </p:nvSpPr>
        <p:spPr>
          <a:xfrm>
            <a:off x="228600" y="6016752"/>
            <a:ext cx="11804904" cy="713232"/>
          </a:xfrm>
          <a:prstGeom prst="roundRect">
            <a:avLst>
              <a:gd name="adj" fmla="val 14000"/>
            </a:avLst>
          </a:prstGeom>
          <a:solidFill>
            <a:srgbClr val="173665"/>
          </a:solidFill>
          <a:ln w="0">
            <a:noFill/>
          </a:ln>
        </p:spPr>
        <p:txBody>
          <a:bodyPr wrap="square" lIns="109728" tIns="36576" rIns="109728" bIns="36576" anchor="ctr">
            <a:normAutofit/>
          </a:bodyPr>
          <a:lstStyle/>
          <a:p>
            <a:endParaRPr lang="en-US"/>
          </a:p>
        </p:txBody>
      </p:sp>
      <p:sp>
        <p:nvSpPr>
          <p:cNvPr id="103" name="Savings Total 1"/>
          <p:cNvSpPr/>
          <p:nvPr/>
        </p:nvSpPr>
        <p:spPr>
          <a:xfrm>
            <a:off x="320040" y="6016752"/>
            <a:ext cx="3474720" cy="713232"/>
          </a:xfrm>
          <a:prstGeom prst="rect">
            <a:avLst/>
          </a:prstGeom>
          <a:noFill/>
          <a:ln w="0">
            <a:noFill/>
          </a:ln>
        </p:spPr>
        <p:txBody>
          <a:bodyPr wrap="square" lIns="109728" tIns="36576" rIns="109728" bIns="36576" anchor="ctr">
            <a:normAutofit/>
          </a:bodyPr>
          <a:lstStyle/>
          <a:p>
            <a:pPr algn="ctr"/>
            <a:r>
              <a:rPr lang="en-US" sz="1050" b="1" i="0" dirty="0">
                <a:solidFill>
                  <a:srgbClr val="D6DEEA"/>
                </a:solidFill>
              </a:rPr>
              <a:t xml:space="preserve">TOTAL - CURRENT STATE</a:t>
            </a:r>
          </a:p>
          <a:p>
            <a:pPr algn="ctr"/>
            <a:r>
              <a:rPr lang="en-US" sz="1700" b="1" i="0" dirty="0">
                <a:solidFill>
                  <a:srgbClr val="FFB38A"/>
                </a:solidFill>
                <a:latin typeface="DejaVu Sans"/>
                <a:cs typeface="DejaVu Sans"/>
              </a:rPr>
              <a:t xml:space="preserve">108 hrs / month</a:t>
            </a:r>
          </a:p>
        </p:txBody>
      </p:sp>
      <p:sp>
        <p:nvSpPr>
          <p:cNvPr id="104" name="Savings Total 2"/>
          <p:cNvSpPr/>
          <p:nvPr/>
        </p:nvSpPr>
        <p:spPr>
          <a:xfrm>
            <a:off x="4270248" y="6016752"/>
            <a:ext cx="3474720" cy="713232"/>
          </a:xfrm>
          <a:prstGeom prst="rect">
            <a:avLst/>
          </a:prstGeom>
          <a:noFill/>
          <a:ln w="0">
            <a:noFill/>
          </a:ln>
        </p:spPr>
        <p:txBody>
          <a:bodyPr wrap="square" lIns="109728" tIns="36576" rIns="109728" bIns="36576" anchor="ctr">
            <a:normAutofit/>
          </a:bodyPr>
          <a:lstStyle/>
          <a:p>
            <a:pPr algn="ctr"/>
            <a:r>
              <a:rPr lang="en-US" sz="1050" b="1" i="0" dirty="0">
                <a:solidFill>
                  <a:srgbClr val="D6DEEA"/>
                </a:solidFill>
              </a:rPr>
              <a:t xml:space="preserve">TOTAL - IMPROVEMENT 1</a:t>
            </a:r>
          </a:p>
          <a:p>
            <a:pPr algn="ctr"/>
            <a:r>
              <a:rPr lang="en-US" sz="1700" b="1" i="0" dirty="0">
                <a:solidFill>
                  <a:srgbClr val="9CC9F2"/>
                </a:solidFill>
                <a:latin typeface="DejaVu Sans"/>
                <a:cs typeface="DejaVu Sans"/>
              </a:rPr>
              <a:t xml:space="preserve">48 hrs / month  (-55.6%)</a:t>
            </a:r>
          </a:p>
        </p:txBody>
      </p:sp>
      <p:sp>
        <p:nvSpPr>
          <p:cNvPr id="105" name="Savings Total 3"/>
          <p:cNvSpPr/>
          <p:nvPr/>
        </p:nvSpPr>
        <p:spPr>
          <a:xfrm>
            <a:off x="8119872" y="6080760"/>
            <a:ext cx="3849624" cy="585216"/>
          </a:xfrm>
          <a:prstGeom prst="roundRect">
            <a:avLst>
              <a:gd name="adj" fmla="val 18000"/>
            </a:avLst>
          </a:prstGeom>
          <a:solidFill>
            <a:srgbClr val="2E9E5B"/>
          </a:solidFill>
          <a:ln w="0">
            <a:noFill/>
          </a:ln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700" b="1" i="0" dirty="0">
                <a:solidFill>
                  <a:srgbClr val="FFFFFF"/>
                </a:solidFill>
                <a:latin typeface="DejaVu Sans"/>
                <a:cs typeface="DejaVu Sans"/>
              </a:rPr>
              <a:t xml:space="preserve">SAVED 86 hrs / month (-79.6%)</a:t>
            </a:r>
          </a:p>
          <a:p>
            <a:pPr algn="ctr"/>
            <a:r>
              <a:rPr lang="en-US" sz="1050" b="0" i="0" dirty="0">
                <a:solidFill>
                  <a:srgbClr val="FFFFFF"/>
                </a:solidFill>
              </a:rPr>
              <a:t xml:space="preserve">Total 22 hrs / month  |  approx. 1,032 hrs / year</a:t>
            </a:r>
          </a:p>
        </p:txBody>
      </p:sp>
      <p:cxnSp>
        <p:nvCxnSpPr>
          <p:cNvPr id="106" name="Savings Arrow 1"/>
          <p:cNvCxnSpPr/>
          <p:nvPr/>
        </p:nvCxnSpPr>
        <p:spPr>
          <a:xfrm>
            <a:off x="3822192" y="6373368"/>
            <a:ext cx="365760" cy="0"/>
          </a:xfrm>
          <a:prstGeom prst="straightConnector1">
            <a:avLst/>
          </a:prstGeom>
          <a:ln w="41275">
            <a:solidFill>
              <a:srgbClr val="FFFFFF"/>
            </a:solidFill>
            <a:tailEnd type="triangle"/>
          </a:ln>
        </p:spPr>
      </p:cxnSp>
      <p:cxnSp>
        <p:nvCxnSpPr>
          <p:cNvPr id="107" name="Savings Arrow 2"/>
          <p:cNvCxnSpPr/>
          <p:nvPr/>
        </p:nvCxnSpPr>
        <p:spPr>
          <a:xfrm>
            <a:off x="7754112" y="6373368"/>
            <a:ext cx="310896" cy="0"/>
          </a:xfrm>
          <a:prstGeom prst="straightConnector1">
            <a:avLst/>
          </a:prstGeom>
          <a:ln w="41275">
            <a:solidFill>
              <a:srgbClr val="FFFFFF"/>
            </a:solidFill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1235323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DejaVu Sans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Danh, Đoàn Văn</dc:creator>
  <cp:lastModifiedBy>Danh, Đoàn Văn</cp:lastModifiedBy>
  <cp:revision>1</cp:revision>
  <dcterms:created xsi:type="dcterms:W3CDTF">2026-10-08T04:35:59Z</dcterms:created>
  <dcterms:modified xsi:type="dcterms:W3CDTF">2026-10-08T04:36:38Z</dcterms:modified>
</cp:coreProperties>
</file>